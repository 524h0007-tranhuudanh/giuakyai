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48"/>
  </p:notesMasterIdLst>
  <p:sldIdLst>
    <p:sldId id="256" r:id="rId2"/>
    <p:sldId id="259" r:id="rId3"/>
    <p:sldId id="315" r:id="rId4"/>
    <p:sldId id="348" r:id="rId5"/>
    <p:sldId id="304" r:id="rId6"/>
    <p:sldId id="318" r:id="rId7"/>
    <p:sldId id="319" r:id="rId8"/>
    <p:sldId id="305" r:id="rId9"/>
    <p:sldId id="339" r:id="rId10"/>
    <p:sldId id="320" r:id="rId11"/>
    <p:sldId id="338" r:id="rId12"/>
    <p:sldId id="321" r:id="rId13"/>
    <p:sldId id="306" r:id="rId14"/>
    <p:sldId id="340" r:id="rId15"/>
    <p:sldId id="322" r:id="rId16"/>
    <p:sldId id="323" r:id="rId17"/>
    <p:sldId id="307" r:id="rId18"/>
    <p:sldId id="341" r:id="rId19"/>
    <p:sldId id="324" r:id="rId20"/>
    <p:sldId id="325" r:id="rId21"/>
    <p:sldId id="308" r:id="rId22"/>
    <p:sldId id="342" r:id="rId23"/>
    <p:sldId id="326" r:id="rId24"/>
    <p:sldId id="327" r:id="rId25"/>
    <p:sldId id="309" r:id="rId26"/>
    <p:sldId id="343" r:id="rId27"/>
    <p:sldId id="328" r:id="rId28"/>
    <p:sldId id="329" r:id="rId29"/>
    <p:sldId id="310" r:id="rId30"/>
    <p:sldId id="344" r:id="rId31"/>
    <p:sldId id="330" r:id="rId32"/>
    <p:sldId id="331" r:id="rId33"/>
    <p:sldId id="311" r:id="rId34"/>
    <p:sldId id="345" r:id="rId35"/>
    <p:sldId id="332" r:id="rId36"/>
    <p:sldId id="333" r:id="rId37"/>
    <p:sldId id="312" r:id="rId38"/>
    <p:sldId id="346" r:id="rId39"/>
    <p:sldId id="334" r:id="rId40"/>
    <p:sldId id="335" r:id="rId41"/>
    <p:sldId id="313" r:id="rId42"/>
    <p:sldId id="347" r:id="rId43"/>
    <p:sldId id="336" r:id="rId44"/>
    <p:sldId id="314" r:id="rId45"/>
    <p:sldId id="337" r:id="rId46"/>
    <p:sldId id="284" r:id="rId47"/>
  </p:sldIdLst>
  <p:sldSz cx="6858000" cy="5143500"/>
  <p:notesSz cx="6858000" cy="9144000"/>
  <p:embeddedFontLst>
    <p:embeddedFont>
      <p:font typeface="Barlow Semi Condensed" panose="00000506000000000000" pitchFamily="2" charset="0"/>
      <p:regular r:id="rId49"/>
      <p:bold r:id="rId50"/>
    </p:embeddedFont>
    <p:embeddedFont>
      <p:font typeface="Barlow Semi Condensed Medium" panose="00000606000000000000" pitchFamily="2" charset="0"/>
      <p:regular r:id="rId51"/>
    </p:embeddedFont>
    <p:embeddedFont>
      <p:font typeface="Consolas" panose="020B0609020204030204" pitchFamily="49" charset="0"/>
      <p:regular r:id="rId52"/>
      <p:bold r:id="rId53"/>
      <p:italic r:id="rId54"/>
      <p:boldItalic r:id="rId55"/>
    </p:embeddedFont>
    <p:embeddedFont>
      <p:font typeface="Fjalla One" panose="02000506040000020004" pitchFamily="2" charset="0"/>
      <p:regular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C6FC"/>
    <a:srgbClr val="9CA3AF"/>
    <a:srgbClr val="16A34A"/>
    <a:srgbClr val="2563EB"/>
    <a:srgbClr val="DC2626"/>
    <a:srgbClr val="7C3AED"/>
    <a:srgbClr val="4B5563"/>
    <a:srgbClr val="F59E0B"/>
    <a:srgbClr val="374151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089D49-F0A7-471C-B574-B244DF5394D3}">
  <a:tblStyle styleId="{DC089D49-F0A7-471C-B574-B244DF5394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9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8">
          <a:extLst>
            <a:ext uri="{FF2B5EF4-FFF2-40B4-BE49-F238E27FC236}">
              <a16:creationId xmlns:a16="http://schemas.microsoft.com/office/drawing/2014/main" id="{B83637F3-0FCF-142F-B89E-1D7FAF0A1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9" name="Google Shape;3489;g8728718f4e_1_1895:notes">
            <a:extLst>
              <a:ext uri="{FF2B5EF4-FFF2-40B4-BE49-F238E27FC236}">
                <a16:creationId xmlns:a16="http://schemas.microsoft.com/office/drawing/2014/main" id="{62B178F4-4BC2-EC72-9EC3-E326269E62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0" name="Google Shape;3490;g8728718f4e_1_1895:notes">
            <a:extLst>
              <a:ext uri="{FF2B5EF4-FFF2-40B4-BE49-F238E27FC236}">
                <a16:creationId xmlns:a16="http://schemas.microsoft.com/office/drawing/2014/main" id="{77D457C3-6EAB-E59C-5C5C-A18A078C1F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8568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8">
          <a:extLst>
            <a:ext uri="{FF2B5EF4-FFF2-40B4-BE49-F238E27FC236}">
              <a16:creationId xmlns:a16="http://schemas.microsoft.com/office/drawing/2014/main" id="{95088654-6504-5B8F-7480-DCE787348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9" name="Google Shape;3489;g8728718f4e_1_1895:notes">
            <a:extLst>
              <a:ext uri="{FF2B5EF4-FFF2-40B4-BE49-F238E27FC236}">
                <a16:creationId xmlns:a16="http://schemas.microsoft.com/office/drawing/2014/main" id="{A2B64841-658E-AEC5-838D-6043F21E26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0" name="Google Shape;3490;g8728718f4e_1_1895:notes">
            <a:extLst>
              <a:ext uri="{FF2B5EF4-FFF2-40B4-BE49-F238E27FC236}">
                <a16:creationId xmlns:a16="http://schemas.microsoft.com/office/drawing/2014/main" id="{4BFA7EE2-0F4F-BFEA-C7E6-B6A0F31AB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6713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BD9E6D72-7E8B-7E63-9446-C76EFEF9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3ABEC636-CD07-538C-9FDB-D67A367B14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31EC67DC-70AC-A441-39E4-6748CCF77F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1463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>
          <a:extLst>
            <a:ext uri="{FF2B5EF4-FFF2-40B4-BE49-F238E27FC236}">
              <a16:creationId xmlns:a16="http://schemas.microsoft.com/office/drawing/2014/main" id="{1D50F365-3190-3C6D-9B71-8328C7562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>
            <a:extLst>
              <a:ext uri="{FF2B5EF4-FFF2-40B4-BE49-F238E27FC236}">
                <a16:creationId xmlns:a16="http://schemas.microsoft.com/office/drawing/2014/main" id="{21792C46-F924-B548-EC43-234B4A19C4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>
            <a:extLst>
              <a:ext uri="{FF2B5EF4-FFF2-40B4-BE49-F238E27FC236}">
                <a16:creationId xmlns:a16="http://schemas.microsoft.com/office/drawing/2014/main" id="{327C4E16-EA32-BC59-795D-80DF66301F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8038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>
          <a:extLst>
            <a:ext uri="{FF2B5EF4-FFF2-40B4-BE49-F238E27FC236}">
              <a16:creationId xmlns:a16="http://schemas.microsoft.com/office/drawing/2014/main" id="{A1EC7929-E20A-6F96-7E85-E6BD4C07F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>
            <a:extLst>
              <a:ext uri="{FF2B5EF4-FFF2-40B4-BE49-F238E27FC236}">
                <a16:creationId xmlns:a16="http://schemas.microsoft.com/office/drawing/2014/main" id="{EC871E0F-64AE-B49D-E065-B6F893A95D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>
            <a:extLst>
              <a:ext uri="{FF2B5EF4-FFF2-40B4-BE49-F238E27FC236}">
                <a16:creationId xmlns:a16="http://schemas.microsoft.com/office/drawing/2014/main" id="{9D5806F0-DE6B-58D4-FD30-804D34BC2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4840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FAEFF527-59D5-B537-08AD-3B3AF13DB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0B446F13-9DDA-CE6E-71AE-F80B94015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A32819B8-E083-9650-5132-C1FC76916E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078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ẢNH: chụp 1 map Sokoban nhỏ (hoặc 2 ảnh trước/sau khi đẩy box) đặt vào khung nét đứt.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8C285-9127-2ECE-946E-D171FE19E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FD74C-762C-2D21-0952-B946BF558C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8B048E-30CC-37D5-5840-E7822D8BC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ẢNH: chụp 1 map Sokoban nhỏ (hoặc 2 ảnh trước/sau khi đẩy box) đặt vào khung nét đứt.</a:t>
            </a:r>
          </a:p>
        </p:txBody>
      </p:sp>
    </p:spTree>
    <p:extLst>
      <p:ext uri="{BB962C8B-B14F-4D97-AF65-F5344CB8AC3E}">
        <p14:creationId xmlns:p14="http://schemas.microsoft.com/office/powerpoint/2010/main" val="4161041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CC5159D0-B30F-D3FA-1854-CEDC374DE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5772AC6B-FBCD-CB14-D373-F3A2637F79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BA6A1CE2-A0EE-0957-602A-0133868C49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5924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3372BDC9-6808-963C-5106-01601BE5C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61512049-0B4A-8E08-EAF1-07CD8765BC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0F8E34FD-B957-B576-BE95-470CBF3AEB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01213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B8ED1CAF-91F7-04C9-000E-EEE0C6F03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D08ACD29-D75A-265B-20A8-EB8DAB3C48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27A7156F-F326-D900-67DF-60EEBD7E1A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704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ẢNH: chèn các bar chart do plot_results sinh ra (hoặc 1 ảnh gộp 4 chỉ số).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66A82FB3-8659-1F9F-D250-2D957CA12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398E99C1-6B1C-F54A-F9C6-ED4F602F28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E500FFC9-A3AC-EDAE-F1CE-2C5EBFE962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96783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BB11BF6D-4AAD-F9A3-EDD3-43B34A63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96FAA860-5619-0EE5-634A-195CF9C9DF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84E9AC5A-A31A-C6EE-231D-DDCB19DA65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37914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ẢNH: chụp màn hình GameScreen (single mode) đang chạy, thấy nút UCS/A* và bộ đếm Step.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54D938DA-9EF2-B433-96B7-58C21BFDB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7B23B985-F0AB-5941-4FB2-EE79274A8B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C7841FC7-7330-F8AC-4871-37F5FABBD8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53057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652BF521-E085-3E76-A5E6-2FE98934E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AE0AAC0E-7D50-58D3-B53E-EE12346E48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371AF461-47C9-D216-348C-EB516039A7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39066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1303260A-BE4A-54CE-AC0D-38B99FD0D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E8CEC9A0-796D-21E2-0CAA-6B01278D8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32C5F535-521B-F8F8-EDDA-83DBD0B42E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41485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ẢNH: chụp màn hình competitive mode, thấy box màu khác nhau của 2 agent, ô nhập n và kết quả winner.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CC4BD9E3-9DB6-ED86-4349-014CA5C23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33848021-03AF-5CA4-3DB7-9FA7456732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1D0B3B4B-3E21-679A-CECC-4E08A0E4A1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32927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2" name="Google Shape;3602;g8714a43093_5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3" name="Google Shape;3603;g8714a43093_5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3936492" y="2002536"/>
            <a:ext cx="2448225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3936492" y="3721608"/>
            <a:ext cx="2448225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4370288" y="451300"/>
            <a:ext cx="1254375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5634694" y="457850"/>
            <a:ext cx="622125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6261731" y="-6625"/>
            <a:ext cx="597375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6048206" y="887850"/>
            <a:ext cx="43635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5514788" y="316276"/>
            <a:ext cx="219019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4267935" y="425808"/>
            <a:ext cx="216461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26" name="Google Shape;26;p2"/>
          <p:cNvSpPr/>
          <p:nvPr/>
        </p:nvSpPr>
        <p:spPr>
          <a:xfrm>
            <a:off x="4266244" y="423275"/>
            <a:ext cx="219833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27" name="Google Shape;27;p2"/>
          <p:cNvSpPr/>
          <p:nvPr/>
        </p:nvSpPr>
        <p:spPr>
          <a:xfrm>
            <a:off x="4295302" y="462310"/>
            <a:ext cx="161720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28" name="Google Shape;28;p2"/>
          <p:cNvSpPr/>
          <p:nvPr/>
        </p:nvSpPr>
        <p:spPr>
          <a:xfrm>
            <a:off x="4293621" y="459777"/>
            <a:ext cx="165092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29" name="Google Shape;29;p2"/>
          <p:cNvSpPr/>
          <p:nvPr/>
        </p:nvSpPr>
        <p:spPr>
          <a:xfrm>
            <a:off x="4324993" y="501885"/>
            <a:ext cx="102133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30" name="Google Shape;30;p2"/>
          <p:cNvSpPr/>
          <p:nvPr/>
        </p:nvSpPr>
        <p:spPr>
          <a:xfrm>
            <a:off x="4323312" y="499642"/>
            <a:ext cx="105713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grpSp>
        <p:nvGrpSpPr>
          <p:cNvPr id="31" name="Google Shape;31;p2"/>
          <p:cNvGrpSpPr/>
          <p:nvPr/>
        </p:nvGrpSpPr>
        <p:grpSpPr>
          <a:xfrm>
            <a:off x="4082513" y="289275"/>
            <a:ext cx="131260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6367538" y="170875"/>
            <a:ext cx="131260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6051563" y="1581800"/>
            <a:ext cx="131260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1599487" y="713253"/>
            <a:ext cx="3659027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228850" y="2231136"/>
            <a:ext cx="24003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228850" y="1161288"/>
            <a:ext cx="22257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229919" y="2999232"/>
            <a:ext cx="2400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324638" y="0"/>
            <a:ext cx="6208725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367606" y="338328"/>
            <a:ext cx="41226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324638" y="0"/>
            <a:ext cx="6208725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672084" y="2039112"/>
            <a:ext cx="2674575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3674363" y="821850"/>
            <a:ext cx="2322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23812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685800" lvl="1" indent="-23812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028700" lvl="2" indent="-23812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371600" lvl="3" indent="-23812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1714500" lvl="4" indent="-23812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057400" lvl="5" indent="-23812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2400300" lvl="6" indent="-23812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2743200" lvl="7" indent="-23812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3086100" lvl="8" indent="-23812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234444" y="523125"/>
            <a:ext cx="1254375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602288" y="529675"/>
            <a:ext cx="622125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597375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374550" y="959675"/>
            <a:ext cx="43635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125300" y="388101"/>
            <a:ext cx="219019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2374711" y="497633"/>
            <a:ext cx="216461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457" name="Google Shape;457;p9"/>
          <p:cNvSpPr/>
          <p:nvPr/>
        </p:nvSpPr>
        <p:spPr>
          <a:xfrm flipH="1">
            <a:off x="2373030" y="495100"/>
            <a:ext cx="219833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458" name="Google Shape;458;p9"/>
          <p:cNvSpPr/>
          <p:nvPr/>
        </p:nvSpPr>
        <p:spPr>
          <a:xfrm flipH="1">
            <a:off x="2402085" y="534135"/>
            <a:ext cx="161720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459" name="Google Shape;459;p9"/>
          <p:cNvSpPr/>
          <p:nvPr/>
        </p:nvSpPr>
        <p:spPr>
          <a:xfrm flipH="1">
            <a:off x="2400394" y="531602"/>
            <a:ext cx="165092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460" name="Google Shape;460;p9"/>
          <p:cNvSpPr/>
          <p:nvPr/>
        </p:nvSpPr>
        <p:spPr>
          <a:xfrm flipH="1">
            <a:off x="2431981" y="573710"/>
            <a:ext cx="102133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461" name="Google Shape;461;p9"/>
          <p:cNvSpPr/>
          <p:nvPr/>
        </p:nvSpPr>
        <p:spPr>
          <a:xfrm flipH="1">
            <a:off x="2430082" y="571467"/>
            <a:ext cx="105713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2645334" y="361100"/>
            <a:ext cx="131260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360309" y="242700"/>
            <a:ext cx="131260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676284" y="1653625"/>
            <a:ext cx="131260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593550" y="4212400"/>
            <a:ext cx="867825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59355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374550" y="3940925"/>
            <a:ext cx="43635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364682" y="4586751"/>
            <a:ext cx="219019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159394" y="4645550"/>
            <a:ext cx="13125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360309" y="4852325"/>
            <a:ext cx="131260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790584" y="3898600"/>
            <a:ext cx="131260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1289304" y="338328"/>
            <a:ext cx="4183425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2770632" y="2414016"/>
            <a:ext cx="1323675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768096" y="2414016"/>
            <a:ext cx="1323675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4766310" y="2414016"/>
            <a:ext cx="1323675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2770632" y="2825496"/>
            <a:ext cx="1323675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768096" y="2825496"/>
            <a:ext cx="1323675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4766310" y="2825496"/>
            <a:ext cx="1323675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196283" y="-1158"/>
            <a:ext cx="6412745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>
            <a:spLocks noGrp="1"/>
          </p:cNvSpPr>
          <p:nvPr>
            <p:ph type="title"/>
          </p:nvPr>
        </p:nvSpPr>
        <p:spPr>
          <a:xfrm>
            <a:off x="1579069" y="384048"/>
            <a:ext cx="3703275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913" name="Google Shape;913;p19"/>
          <p:cNvSpPr txBox="1">
            <a:spLocks noGrp="1"/>
          </p:cNvSpPr>
          <p:nvPr>
            <p:ph type="subTitle" idx="1"/>
          </p:nvPr>
        </p:nvSpPr>
        <p:spPr>
          <a:xfrm>
            <a:off x="2263140" y="1709928"/>
            <a:ext cx="2324925" cy="14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14" name="Google Shape;914;p19"/>
          <p:cNvSpPr txBox="1"/>
          <p:nvPr/>
        </p:nvSpPr>
        <p:spPr>
          <a:xfrm>
            <a:off x="1867031" y="3664200"/>
            <a:ext cx="31212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25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82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825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82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825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82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825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82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825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 sz="1050"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5310644" y="3362838"/>
            <a:ext cx="1133100" cy="2297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19"/>
          <p:cNvCxnSpPr/>
          <p:nvPr/>
        </p:nvCxnSpPr>
        <p:spPr>
          <a:xfrm rot="-5400000" flipH="1">
            <a:off x="5218281" y="2121813"/>
            <a:ext cx="1342200" cy="2364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5257825" y="785388"/>
            <a:ext cx="1332000" cy="2940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6092087" y="-15713"/>
            <a:ext cx="273900" cy="3053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19" name="Google Shape;919;p19"/>
          <p:cNvGrpSpPr/>
          <p:nvPr/>
        </p:nvGrpSpPr>
        <p:grpSpPr>
          <a:xfrm rot="5400000" flipH="1">
            <a:off x="5482775" y="1357719"/>
            <a:ext cx="581800" cy="436763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rot="5400000" flipH="1">
            <a:off x="5865787" y="2790773"/>
            <a:ext cx="292025" cy="219431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rot="5400000" flipH="1">
            <a:off x="5987469" y="200050"/>
            <a:ext cx="175000" cy="13125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5627124" y="3916600"/>
            <a:ext cx="293111" cy="220041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rot="5400000" flipH="1">
            <a:off x="6172413" y="326519"/>
            <a:ext cx="175013" cy="2025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cxnSp>
        <p:nvCxnSpPr>
          <p:cNvPr id="947" name="Google Shape;947;p19"/>
          <p:cNvCxnSpPr/>
          <p:nvPr/>
        </p:nvCxnSpPr>
        <p:spPr>
          <a:xfrm rot="5400000" flipH="1">
            <a:off x="346575" y="2614075"/>
            <a:ext cx="1672500" cy="9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531638" y="3646925"/>
            <a:ext cx="829500" cy="5575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19"/>
          <p:cNvCxnSpPr/>
          <p:nvPr/>
        </p:nvCxnSpPr>
        <p:spPr>
          <a:xfrm rot="5400000" flipH="1">
            <a:off x="729769" y="4299750"/>
            <a:ext cx="796500" cy="8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393381" y="4134819"/>
            <a:ext cx="581800" cy="436763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075616" y="3387373"/>
            <a:ext cx="292025" cy="219431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174469" y="4812200"/>
            <a:ext cx="175000" cy="13125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996761" y="1724786"/>
            <a:ext cx="288614" cy="216253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968" name="Google Shape;968;p19"/>
          <p:cNvSpPr/>
          <p:nvPr/>
        </p:nvSpPr>
        <p:spPr>
          <a:xfrm rot="5400000">
            <a:off x="994519" y="1722885"/>
            <a:ext cx="293111" cy="220041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033254" y="1752157"/>
            <a:ext cx="215626" cy="161503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031007" y="1750264"/>
            <a:ext cx="220123" cy="1653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072983" y="1781705"/>
            <a:ext cx="136177" cy="102133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070591" y="1780163"/>
            <a:ext cx="140951" cy="105506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253963" y="1518756"/>
            <a:ext cx="175013" cy="2025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342763" y="4565456"/>
            <a:ext cx="175013" cy="2025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284569" y="4144156"/>
            <a:ext cx="175013" cy="2025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5310644" y="3362838"/>
            <a:ext cx="1133100" cy="229725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5218281" y="2121813"/>
            <a:ext cx="1342200" cy="236475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5257825" y="785388"/>
            <a:ext cx="1332000" cy="294075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6092087" y="-15713"/>
            <a:ext cx="273900" cy="305325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5482775" y="1357719"/>
            <a:ext cx="581800" cy="436763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5865787" y="2790773"/>
            <a:ext cx="292025" cy="219431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5987469" y="200050"/>
            <a:ext cx="175000" cy="13125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5627124" y="3916600"/>
            <a:ext cx="293111" cy="220041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6172413" y="326519"/>
            <a:ext cx="175013" cy="2025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346575" y="2614075"/>
            <a:ext cx="1672500" cy="945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531638" y="3646925"/>
            <a:ext cx="829500" cy="55755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729769" y="4299750"/>
            <a:ext cx="796500" cy="891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393381" y="4134819"/>
            <a:ext cx="581800" cy="436763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075616" y="3387373"/>
            <a:ext cx="292025" cy="219431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174469" y="4812200"/>
            <a:ext cx="175000" cy="13125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996761" y="1724786"/>
            <a:ext cx="288614" cy="216253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994519" y="1722885"/>
            <a:ext cx="293111" cy="220041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033254" y="1752157"/>
            <a:ext cx="215626" cy="161503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031007" y="1750264"/>
            <a:ext cx="220123" cy="1653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072983" y="1781705"/>
            <a:ext cx="136177" cy="102133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070591" y="1780163"/>
            <a:ext cx="140951" cy="105506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253963" y="1518756"/>
            <a:ext cx="175013" cy="2025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342763" y="4565456"/>
            <a:ext cx="175013" cy="2025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284569" y="4144156"/>
            <a:ext cx="175013" cy="2025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196283" y="-1158"/>
            <a:ext cx="6412745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324638" y="0"/>
            <a:ext cx="6208725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5151" y="-6625"/>
            <a:ext cx="6864257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2813" y="526925"/>
            <a:ext cx="577237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60" r:id="rId6"/>
    <p:sldLayoutId id="2147483665" r:id="rId7"/>
    <p:sldLayoutId id="2147483673" r:id="rId8"/>
    <p:sldLayoutId id="2147483674" r:id="rId9"/>
    <p:sldLayoutId id="2147483675" r:id="rId10"/>
    <p:sldLayoutId id="214748367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227408" y="1362727"/>
            <a:ext cx="4007655" cy="313776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2930236" y="1594122"/>
            <a:ext cx="3974026" cy="1344150"/>
          </a:xfrm>
          <a:prstGeom prst="rect">
            <a:avLst/>
          </a:prstGeom>
        </p:spPr>
        <p:txBody>
          <a:bodyPr spcFirstLastPara="1" wrap="square" lIns="68569" tIns="68569" rIns="68569" bIns="68569" anchor="b" anchorCtr="0">
            <a:noAutofit/>
          </a:bodyPr>
          <a:lstStyle/>
          <a:p>
            <a:pPr lvl="0"/>
            <a:r>
              <a:rPr lang="en-US" sz="2400" b="1"/>
              <a:t>Sokoban – State-Space Search </a:t>
            </a:r>
            <a:br>
              <a:rPr lang="en-US" sz="2400" b="1"/>
            </a:br>
            <a:r>
              <a:rPr lang="en-US" sz="2400" b="1"/>
              <a:t>&amp; Competitive Agents</a:t>
            </a:r>
            <a:endParaRPr sz="2700"/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4409775" y="2821133"/>
            <a:ext cx="2448225" cy="67207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725"/>
              <a:t>Group 1</a:t>
            </a:r>
            <a:endParaRPr sz="172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228850" y="2420199"/>
            <a:ext cx="2400300" cy="6034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/>
            <a:r>
              <a:rPr lang="en-US" sz="2400"/>
              <a:t>Team Members &amp; Task Assignment</a:t>
            </a:r>
            <a:endParaRPr lang="vi-VN" sz="2400"/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228850" y="1513904"/>
            <a:ext cx="2225700" cy="8023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1">
          <a:extLst>
            <a:ext uri="{FF2B5EF4-FFF2-40B4-BE49-F238E27FC236}">
              <a16:creationId xmlns:a16="http://schemas.microsoft.com/office/drawing/2014/main" id="{AD506474-34CC-D366-7D4C-602A54B79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" name="Google Shape;3492;p60">
            <a:extLst>
              <a:ext uri="{FF2B5EF4-FFF2-40B4-BE49-F238E27FC236}">
                <a16:creationId xmlns:a16="http://schemas.microsoft.com/office/drawing/2014/main" id="{F6365286-39D9-637D-88FE-19511C6092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67606" y="257642"/>
            <a:ext cx="4122675" cy="4295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lvl="0"/>
            <a:r>
              <a:rPr lang="en-US"/>
              <a:t>Team Members</a:t>
            </a:r>
            <a:endParaRPr/>
          </a:p>
        </p:txBody>
      </p:sp>
      <p:graphicFrame>
        <p:nvGraphicFramePr>
          <p:cNvPr id="3493" name="Google Shape;3493;p60">
            <a:extLst>
              <a:ext uri="{FF2B5EF4-FFF2-40B4-BE49-F238E27FC236}">
                <a16:creationId xmlns:a16="http://schemas.microsoft.com/office/drawing/2014/main" id="{7CD56523-4AF3-CE8E-2DF8-9A77793407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1145358"/>
              </p:ext>
            </p:extLst>
          </p:nvPr>
        </p:nvGraphicFramePr>
        <p:xfrm>
          <a:off x="1198706" y="969445"/>
          <a:ext cx="4460473" cy="3221555"/>
        </p:xfrm>
        <a:graphic>
          <a:graphicData uri="http://schemas.openxmlformats.org/drawingml/2006/table">
            <a:tbl>
              <a:tblPr>
                <a:noFill/>
                <a:tableStyleId>{DC089D49-F0A7-471C-B574-B244DF5394D3}</a:tableStyleId>
              </a:tblPr>
              <a:tblGrid>
                <a:gridCol w="727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527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1">
                          <a:solidFill>
                            <a:srgbClr val="595959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Student ID</a:t>
                      </a:r>
                      <a:endParaRPr sz="1100" b="1"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100" b="1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Full name</a:t>
                      </a:r>
                      <a:endParaRPr sz="1100" b="1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68569" marR="68569" marT="68569" marB="68569" anchor="ctr">
                    <a:lnL w="9525" cap="flat" cmpd="sng" algn="ctr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100" b="1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Email</a:t>
                      </a:r>
                      <a:endParaRPr sz="1100" b="1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0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523H0081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Phạm Nguyễn Vĩnh Phúc</a:t>
                      </a:r>
                      <a:endParaRPr sz="11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 algn="ctr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phuc270605@gmail.com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0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0">
                          <a:solidFill>
                            <a:schemeClr val="tx1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524H0005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Triệu Ngọc Vân Anh</a:t>
                      </a:r>
                      <a:endParaRPr sz="11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vananh298206@gmail.com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18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0">
                          <a:solidFill>
                            <a:schemeClr val="tx1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524H0007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Trần Hữu Danh</a:t>
                      </a:r>
                      <a:endParaRPr sz="11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steam020906@gmail.com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1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 sz="1100" b="0">
                          <a:solidFill>
                            <a:schemeClr val="tx1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524H0008</a:t>
                      </a: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Lâm Tấn Đạt</a:t>
                      </a:r>
                      <a:endParaRPr sz="11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datlam.31012019@gmail.com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910848"/>
                  </a:ext>
                </a:extLst>
              </a:tr>
              <a:tr h="5438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 sz="1100" b="0">
                          <a:solidFill>
                            <a:schemeClr val="tx1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524H0010</a:t>
                      </a: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Ngô Huỳnh Đức</a:t>
                      </a:r>
                      <a:endParaRPr sz="11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huynhduc9881@gmail.com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018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94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1">
          <a:extLst>
            <a:ext uri="{FF2B5EF4-FFF2-40B4-BE49-F238E27FC236}">
              <a16:creationId xmlns:a16="http://schemas.microsoft.com/office/drawing/2014/main" id="{1A7A215B-CD79-3969-95F2-2CAF9C210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" name="Google Shape;3492;p60">
            <a:extLst>
              <a:ext uri="{FF2B5EF4-FFF2-40B4-BE49-F238E27FC236}">
                <a16:creationId xmlns:a16="http://schemas.microsoft.com/office/drawing/2014/main" id="{229198A1-449B-9FB8-A9E6-5FF838109D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67606" y="139879"/>
            <a:ext cx="4122675" cy="4295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lvl="0"/>
            <a:r>
              <a:rPr lang="en-US"/>
              <a:t>Task Assignment</a:t>
            </a:r>
            <a:endParaRPr/>
          </a:p>
        </p:txBody>
      </p:sp>
      <p:graphicFrame>
        <p:nvGraphicFramePr>
          <p:cNvPr id="3493" name="Google Shape;3493;p60">
            <a:extLst>
              <a:ext uri="{FF2B5EF4-FFF2-40B4-BE49-F238E27FC236}">
                <a16:creationId xmlns:a16="http://schemas.microsoft.com/office/drawing/2014/main" id="{BE65238A-D582-4512-5C01-920E851403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9640394"/>
              </p:ext>
            </p:extLst>
          </p:nvPr>
        </p:nvGraphicFramePr>
        <p:xfrm>
          <a:off x="621723" y="733919"/>
          <a:ext cx="5614554" cy="4361421"/>
        </p:xfrm>
        <a:graphic>
          <a:graphicData uri="http://schemas.openxmlformats.org/drawingml/2006/table">
            <a:tbl>
              <a:tblPr>
                <a:noFill/>
                <a:tableStyleId>{DC089D49-F0A7-471C-B574-B244DF5394D3}</a:tableStyleId>
              </a:tblPr>
              <a:tblGrid>
                <a:gridCol w="2135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633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100" b="1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Full name</a:t>
                      </a:r>
                      <a:endParaRPr sz="1100" b="1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100" b="1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Tasks</a:t>
                      </a:r>
                      <a:endParaRPr sz="1100" b="1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Completion Percentage</a:t>
                      </a:r>
                      <a:endParaRPr sz="1100" b="1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Phạm Nguyễn Vĩnh Phúc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GUI Development, Presentation Design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80%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Triệu Ngọc Vân Anh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GUI Development, Presentation Design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90%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1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Trần Hữu Danh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State-Space Formulation, UCS &amp; A* Implementation, Performance Evaluation, Heuristic Analysis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100%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1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Lâm Tấn Đạt</a:t>
                      </a:r>
                      <a:endParaRPr sz="11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State-Space Formulation, UCS Implementation, Competitive Two-Agent Formulation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100%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83494"/>
                  </a:ext>
                </a:extLst>
              </a:tr>
              <a:tr h="77721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Ngô Huỳnh Đức</a:t>
                      </a:r>
                      <a:endParaRPr sz="11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Overall Game Flow Design, GUI Development, Competitive Two-Agent Formulation, Agent Decision-Making, Competitive Game Implementation</a:t>
                      </a:r>
                      <a:endParaRPr sz="1100" b="0">
                        <a:solidFill>
                          <a:schemeClr val="tx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68569" marR="68569" marT="68569" marB="68569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 sz="1100" b="0">
                          <a:solidFill>
                            <a:schemeClr val="tx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100%</a:t>
                      </a:r>
                    </a:p>
                  </a:txBody>
                  <a:tcPr marL="68569" marR="68569" marT="68569" marB="68569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2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734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4A5D803E-6FDC-3E70-56E9-759B3975D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C8B374C6-7BCD-8A6E-9170-BD3C7FC7E7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8850" y="2420199"/>
            <a:ext cx="2400300" cy="6034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/>
            <a:r>
              <a:rPr lang="en-US" sz="2400"/>
              <a:t>Problem Overview</a:t>
            </a:r>
            <a:endParaRPr lang="vi-VN" sz="2400"/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9FC31FE4-C807-7C18-E9DE-A97D3C0634A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28850" y="1513904"/>
            <a:ext cx="2225700" cy="8023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5719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>
          <a:extLst>
            <a:ext uri="{FF2B5EF4-FFF2-40B4-BE49-F238E27FC236}">
              <a16:creationId xmlns:a16="http://schemas.microsoft.com/office/drawing/2014/main" id="{29DB42AF-7B3C-68D5-DD51-3A5DF510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40">
            <a:extLst>
              <a:ext uri="{FF2B5EF4-FFF2-40B4-BE49-F238E27FC236}">
                <a16:creationId xmlns:a16="http://schemas.microsoft.com/office/drawing/2014/main" id="{75F2CAB3-B203-F6AC-A930-3071A38B9E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304" y="896684"/>
            <a:ext cx="4183425" cy="4457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lvl="0"/>
            <a:r>
              <a:rPr lang="en-US"/>
              <a:t>Problem Overview</a:t>
            </a:r>
            <a:endParaRPr/>
          </a:p>
        </p:txBody>
      </p:sp>
      <p:sp>
        <p:nvSpPr>
          <p:cNvPr id="2197" name="Google Shape;2197;p40">
            <a:extLst>
              <a:ext uri="{FF2B5EF4-FFF2-40B4-BE49-F238E27FC236}">
                <a16:creationId xmlns:a16="http://schemas.microsoft.com/office/drawing/2014/main" id="{9A893733-7C01-E990-2B35-471BE6ABC14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52017" y="1976254"/>
            <a:ext cx="2451056" cy="2468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lvl="0"/>
            <a:r>
              <a:rPr lang="en-US" sz="2100" b="1"/>
              <a:t>Problem Statement:</a:t>
            </a:r>
            <a:endParaRPr sz="2100"/>
          </a:p>
        </p:txBody>
      </p:sp>
      <p:sp>
        <p:nvSpPr>
          <p:cNvPr id="2200" name="Google Shape;2200;p40">
            <a:extLst>
              <a:ext uri="{FF2B5EF4-FFF2-40B4-BE49-F238E27FC236}">
                <a16:creationId xmlns:a16="http://schemas.microsoft.com/office/drawing/2014/main" id="{A09D1685-A8AA-8E2E-5AB4-B1B99103443D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573392" y="2370485"/>
            <a:ext cx="2811572" cy="8093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algn="l"/>
            <a:r>
              <a:rPr lang="en-US" sz="1500"/>
              <a:t>Find the </a:t>
            </a:r>
            <a:r>
              <a:rPr lang="en-US" sz="1500" b="1">
                <a:solidFill>
                  <a:srgbClr val="2563EB"/>
                </a:solidFill>
              </a:rPr>
              <a:t>optimal path </a:t>
            </a:r>
            <a:r>
              <a:rPr lang="en-US" sz="1500"/>
              <a:t>for the </a:t>
            </a:r>
            <a:r>
              <a:rPr lang="en-US" sz="1500" b="1">
                <a:solidFill>
                  <a:srgbClr val="F59E0B"/>
                </a:solidFill>
              </a:rPr>
              <a:t>agent</a:t>
            </a:r>
            <a:r>
              <a:rPr lang="en-US" sz="1500"/>
              <a:t> to push all boxes onto their designated </a:t>
            </a:r>
            <a:r>
              <a:rPr lang="en-US" sz="1500" b="1">
                <a:solidFill>
                  <a:srgbClr val="16A34A"/>
                </a:solidFill>
              </a:rPr>
              <a:t>goal positions </a:t>
            </a:r>
            <a:r>
              <a:rPr lang="en-US" sz="1500"/>
              <a:t>in </a:t>
            </a:r>
            <a:r>
              <a:rPr lang="en-US" sz="1500" b="1"/>
              <a:t>Sokoban</a:t>
            </a:r>
            <a:r>
              <a:rPr lang="en-US" sz="150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364965-9A71-D132-4CE2-EBDBA499F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870" y="2102680"/>
            <a:ext cx="1102916" cy="110291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F07F5DE-BFD7-56CD-0401-DEAC277F5C3D}"/>
              </a:ext>
            </a:extLst>
          </p:cNvPr>
          <p:cNvCxnSpPr/>
          <p:nvPr/>
        </p:nvCxnSpPr>
        <p:spPr>
          <a:xfrm>
            <a:off x="1483486" y="2076894"/>
            <a:ext cx="0" cy="13248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050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>
          <a:extLst>
            <a:ext uri="{FF2B5EF4-FFF2-40B4-BE49-F238E27FC236}">
              <a16:creationId xmlns:a16="http://schemas.microsoft.com/office/drawing/2014/main" id="{D0BBDDB6-0822-227E-338E-62C4A138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40">
            <a:extLst>
              <a:ext uri="{FF2B5EF4-FFF2-40B4-BE49-F238E27FC236}">
                <a16:creationId xmlns:a16="http://schemas.microsoft.com/office/drawing/2014/main" id="{A195821F-0CF6-D7C6-04AE-D978B7B5B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304" y="612666"/>
            <a:ext cx="4183425" cy="4457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lvl="0"/>
            <a:r>
              <a:rPr lang="en-US"/>
              <a:t>Problem Overview</a:t>
            </a:r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A01B12-1A6B-1237-449A-ADA7D9FD6F6F}"/>
              </a:ext>
            </a:extLst>
          </p:cNvPr>
          <p:cNvGrpSpPr/>
          <p:nvPr/>
        </p:nvGrpSpPr>
        <p:grpSpPr>
          <a:xfrm>
            <a:off x="521921" y="1530907"/>
            <a:ext cx="2698856" cy="1161226"/>
            <a:chOff x="751854" y="3063010"/>
            <a:chExt cx="3598474" cy="1548301"/>
          </a:xfrm>
        </p:grpSpPr>
        <p:sp>
          <p:nvSpPr>
            <p:cNvPr id="12" name="Google Shape;2197;p40">
              <a:extLst>
                <a:ext uri="{FF2B5EF4-FFF2-40B4-BE49-F238E27FC236}">
                  <a16:creationId xmlns:a16="http://schemas.microsoft.com/office/drawing/2014/main" id="{2519E34C-2BCC-CFB5-6059-53A3EA6D7086}"/>
                </a:ext>
              </a:extLst>
            </p:cNvPr>
            <p:cNvSpPr txBox="1">
              <a:spLocks/>
            </p:cNvSpPr>
            <p:nvPr/>
          </p:nvSpPr>
          <p:spPr>
            <a:xfrm>
              <a:off x="751854" y="3063010"/>
              <a:ext cx="3598474" cy="32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r>
                <a:rPr lang="en-US" sz="1350" b="1"/>
                <a:t>How did we approach the problem?</a:t>
              </a:r>
            </a:p>
          </p:txBody>
        </p:sp>
        <p:sp>
          <p:nvSpPr>
            <p:cNvPr id="16" name="Google Shape;2200;p40">
              <a:extLst>
                <a:ext uri="{FF2B5EF4-FFF2-40B4-BE49-F238E27FC236}">
                  <a16:creationId xmlns:a16="http://schemas.microsoft.com/office/drawing/2014/main" id="{8F754E9E-BE80-F964-29F2-4E14004B8AE8}"/>
                </a:ext>
              </a:extLst>
            </p:cNvPr>
            <p:cNvSpPr txBox="1">
              <a:spLocks/>
            </p:cNvSpPr>
            <p:nvPr/>
          </p:nvSpPr>
          <p:spPr>
            <a:xfrm>
              <a:off x="923683" y="3392110"/>
              <a:ext cx="2785871" cy="107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algn="l"/>
              <a:r>
                <a:rPr lang="en-US" sz="1350"/>
                <a:t>Represent </a:t>
              </a:r>
              <a:r>
                <a:rPr lang="en-US" sz="1350" b="1"/>
                <a:t>Sokoban</a:t>
              </a:r>
              <a:r>
                <a:rPr lang="en-US" sz="1350"/>
                <a:t> using </a:t>
              </a:r>
              <a:r>
                <a:rPr lang="en-US" sz="1350" b="1">
                  <a:solidFill>
                    <a:srgbClr val="F59E0B"/>
                  </a:solidFill>
                </a:rPr>
                <a:t>agent</a:t>
              </a:r>
              <a:r>
                <a:rPr lang="en-US" sz="1350"/>
                <a:t> and </a:t>
              </a:r>
              <a:r>
                <a:rPr lang="en-US" sz="1350" b="1">
                  <a:solidFill>
                    <a:srgbClr val="2563EB"/>
                  </a:solidFill>
                </a:rPr>
                <a:t>box positions </a:t>
              </a:r>
              <a:r>
                <a:rPr lang="en-US" sz="1350"/>
                <a:t>as </a:t>
              </a:r>
              <a:r>
                <a:rPr lang="en-US" sz="1350" b="1">
                  <a:solidFill>
                    <a:srgbClr val="16A34A"/>
                  </a:solidFill>
                </a:rPr>
                <a:t>states</a:t>
              </a:r>
              <a:r>
                <a:rPr lang="en-US" sz="1350"/>
                <a:t>.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3E787B8-0783-0F40-9C8E-24FD9D19C04C}"/>
                </a:ext>
              </a:extLst>
            </p:cNvPr>
            <p:cNvCxnSpPr>
              <a:cxnSpLocks/>
            </p:cNvCxnSpPr>
            <p:nvPr/>
          </p:nvCxnSpPr>
          <p:spPr>
            <a:xfrm>
              <a:off x="923683" y="3093688"/>
              <a:ext cx="0" cy="151762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E187A36-75A9-3551-39CF-2B0F3C7AD849}"/>
              </a:ext>
            </a:extLst>
          </p:cNvPr>
          <p:cNvGrpSpPr/>
          <p:nvPr/>
        </p:nvGrpSpPr>
        <p:grpSpPr>
          <a:xfrm>
            <a:off x="618152" y="3190666"/>
            <a:ext cx="2939907" cy="1056150"/>
            <a:chOff x="4522158" y="3063010"/>
            <a:chExt cx="4463622" cy="1408200"/>
          </a:xfrm>
        </p:grpSpPr>
        <p:sp>
          <p:nvSpPr>
            <p:cNvPr id="15" name="Google Shape;2197;p40">
              <a:extLst>
                <a:ext uri="{FF2B5EF4-FFF2-40B4-BE49-F238E27FC236}">
                  <a16:creationId xmlns:a16="http://schemas.microsoft.com/office/drawing/2014/main" id="{04700355-F394-78DA-A7FA-53B2B63B0674}"/>
                </a:ext>
              </a:extLst>
            </p:cNvPr>
            <p:cNvSpPr txBox="1">
              <a:spLocks/>
            </p:cNvSpPr>
            <p:nvPr/>
          </p:nvSpPr>
          <p:spPr>
            <a:xfrm>
              <a:off x="4522158" y="3063010"/>
              <a:ext cx="4413781" cy="32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r>
                <a:rPr lang="en-US" sz="1500" b="1"/>
                <a:t>What solutions and algorithms did we use?</a:t>
              </a:r>
              <a:endParaRPr lang="en-US" sz="1500"/>
            </a:p>
          </p:txBody>
        </p:sp>
        <p:sp>
          <p:nvSpPr>
            <p:cNvPr id="23" name="Google Shape;2200;p40">
              <a:extLst>
                <a:ext uri="{FF2B5EF4-FFF2-40B4-BE49-F238E27FC236}">
                  <a16:creationId xmlns:a16="http://schemas.microsoft.com/office/drawing/2014/main" id="{AED6E220-52E9-EC65-7A4B-9BAF4DF3D748}"/>
                </a:ext>
              </a:extLst>
            </p:cNvPr>
            <p:cNvSpPr txBox="1">
              <a:spLocks/>
            </p:cNvSpPr>
            <p:nvPr/>
          </p:nvSpPr>
          <p:spPr>
            <a:xfrm>
              <a:off x="4572000" y="3392110"/>
              <a:ext cx="4413780" cy="107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algn="l"/>
              <a:r>
                <a:rPr lang="en-US" sz="1350"/>
                <a:t>Model </a:t>
              </a:r>
              <a:r>
                <a:rPr lang="en-US" sz="1350" b="1"/>
                <a:t>Sokoban</a:t>
              </a:r>
              <a:r>
                <a:rPr lang="en-US" sz="1350"/>
                <a:t> as a </a:t>
              </a:r>
              <a:r>
                <a:rPr lang="en-US" sz="1350" b="1">
                  <a:solidFill>
                    <a:srgbClr val="2563EB"/>
                  </a:solidFill>
                </a:rPr>
                <a:t>state-space</a:t>
              </a:r>
              <a:r>
                <a:rPr lang="en-US" sz="1350"/>
                <a:t> and use </a:t>
              </a:r>
              <a:r>
                <a:rPr lang="en-US" sz="1350" b="1">
                  <a:solidFill>
                    <a:srgbClr val="2563EB"/>
                  </a:solidFill>
                </a:rPr>
                <a:t>UCS</a:t>
              </a:r>
              <a:r>
                <a:rPr lang="en-US" sz="1350"/>
                <a:t> &amp; </a:t>
              </a:r>
              <a:r>
                <a:rPr lang="en-US" sz="1350" b="1">
                  <a:solidFill>
                    <a:srgbClr val="16A34A"/>
                  </a:solidFill>
                </a:rPr>
                <a:t>A*</a:t>
              </a:r>
              <a:r>
                <a:rPr lang="en-US" sz="1350"/>
                <a:t> to find the </a:t>
              </a:r>
              <a:r>
                <a:rPr lang="en-US" sz="1350" b="1">
                  <a:solidFill>
                    <a:srgbClr val="16A34A"/>
                  </a:solidFill>
                </a:rPr>
                <a:t>optimal</a:t>
              </a:r>
              <a:r>
                <a:rPr lang="en-US" sz="1350"/>
                <a:t> solution.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5B65069-536A-BA6C-C463-93CCBFDE0950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3093688"/>
              <a:ext cx="0" cy="106960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5773E68-1C77-6851-1E3A-DC422F643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171" y="1346656"/>
            <a:ext cx="2842738" cy="1557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B14E3D-0060-7346-A75A-6BBA54FA5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059" y="3081606"/>
            <a:ext cx="2842740" cy="109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61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56BFB096-8D90-3E8F-7EBB-7076A3392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BC6726B4-5635-E94F-38BC-9400CB9096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8850" y="2420199"/>
            <a:ext cx="2400300" cy="6034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/>
            <a:r>
              <a:rPr lang="en-US" sz="2400"/>
              <a:t>RQ1: State-Space Formulation</a:t>
            </a:r>
            <a:endParaRPr lang="vi-VN" sz="2400"/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C78CE52C-9FE1-AE9D-1A8B-6409AB49909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28850" y="1513904"/>
            <a:ext cx="2225700" cy="8023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64892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>
          <a:extLst>
            <a:ext uri="{FF2B5EF4-FFF2-40B4-BE49-F238E27FC236}">
              <a16:creationId xmlns:a16="http://schemas.microsoft.com/office/drawing/2014/main" id="{D0BBDDB6-0822-227E-338E-62C4A138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40">
            <a:extLst>
              <a:ext uri="{FF2B5EF4-FFF2-40B4-BE49-F238E27FC236}">
                <a16:creationId xmlns:a16="http://schemas.microsoft.com/office/drawing/2014/main" id="{A195821F-0CF6-D7C6-04AE-D978B7B5B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2741" y="303059"/>
            <a:ext cx="4908000" cy="4457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lvl="0"/>
            <a:r>
              <a:rPr lang="en-US"/>
              <a:t>RQ1: Approach &amp; Solution</a:t>
            </a:r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A01B12-1A6B-1237-449A-ADA7D9FD6F6F}"/>
              </a:ext>
            </a:extLst>
          </p:cNvPr>
          <p:cNvGrpSpPr/>
          <p:nvPr/>
        </p:nvGrpSpPr>
        <p:grpSpPr>
          <a:xfrm>
            <a:off x="810491" y="1416793"/>
            <a:ext cx="5212500" cy="1275509"/>
            <a:chOff x="869623" y="3063010"/>
            <a:chExt cx="6950000" cy="1700678"/>
          </a:xfrm>
        </p:grpSpPr>
        <p:sp>
          <p:nvSpPr>
            <p:cNvPr id="12" name="Google Shape;2197;p40">
              <a:extLst>
                <a:ext uri="{FF2B5EF4-FFF2-40B4-BE49-F238E27FC236}">
                  <a16:creationId xmlns:a16="http://schemas.microsoft.com/office/drawing/2014/main" id="{2519E34C-2BCC-CFB5-6059-53A3EA6D7086}"/>
                </a:ext>
              </a:extLst>
            </p:cNvPr>
            <p:cNvSpPr txBox="1">
              <a:spLocks/>
            </p:cNvSpPr>
            <p:nvPr/>
          </p:nvSpPr>
          <p:spPr>
            <a:xfrm>
              <a:off x="869623" y="3063010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How did we approach it?</a:t>
              </a:r>
            </a:p>
          </p:txBody>
        </p:sp>
        <p:sp>
          <p:nvSpPr>
            <p:cNvPr id="16" name="Google Shape;2200;p40">
              <a:extLst>
                <a:ext uri="{FF2B5EF4-FFF2-40B4-BE49-F238E27FC236}">
                  <a16:creationId xmlns:a16="http://schemas.microsoft.com/office/drawing/2014/main" id="{8F754E9E-BE80-F964-29F2-4E14004B8AE8}"/>
                </a:ext>
              </a:extLst>
            </p:cNvPr>
            <p:cNvSpPr txBox="1">
              <a:spLocks/>
            </p:cNvSpPr>
            <p:nvPr/>
          </p:nvSpPr>
          <p:spPr>
            <a:xfrm>
              <a:off x="923683" y="3443010"/>
              <a:ext cx="6778171" cy="13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/>
                <a:t>Treat </a:t>
              </a:r>
              <a:r>
                <a:rPr lang="en-US" sz="1200" b="1"/>
                <a:t>Sokoban</a:t>
              </a:r>
              <a:r>
                <a:rPr lang="en-US" sz="1200"/>
                <a:t> as a </a:t>
              </a:r>
              <a:r>
                <a:rPr lang="en-US" sz="1200" b="1"/>
                <a:t>search problem</a:t>
              </a:r>
              <a:r>
                <a:rPr lang="en-US" sz="1200"/>
                <a:t>: a state = </a:t>
              </a:r>
              <a:r>
                <a:rPr lang="en-US" sz="1200" b="1">
                  <a:solidFill>
                    <a:srgbClr val="F59E0B"/>
                  </a:solidFill>
                </a:rPr>
                <a:t>agent position</a:t>
              </a:r>
              <a:r>
                <a:rPr lang="en-US" sz="1200"/>
                <a:t> + </a:t>
              </a:r>
              <a:r>
                <a:rPr lang="en-US" sz="1200" b="1">
                  <a:solidFill>
                    <a:srgbClr val="2563EB"/>
                  </a:solidFill>
                </a:rPr>
                <a:t>set of box positions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2563EB"/>
                  </a:solidFill>
                </a:rPr>
                <a:t>Walls and goals never change</a:t>
              </a:r>
              <a:r>
                <a:rPr lang="en-US" sz="1200"/>
                <a:t>, so they stay outside the state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3E787B8-0783-0F40-9C8E-24FD9D19C04C}"/>
                </a:ext>
              </a:extLst>
            </p:cNvPr>
            <p:cNvCxnSpPr>
              <a:cxnSpLocks/>
            </p:cNvCxnSpPr>
            <p:nvPr/>
          </p:nvCxnSpPr>
          <p:spPr>
            <a:xfrm>
              <a:off x="923683" y="3093688"/>
              <a:ext cx="0" cy="167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E187A36-75A9-3551-39CF-2B0F3C7AD849}"/>
              </a:ext>
            </a:extLst>
          </p:cNvPr>
          <p:cNvGrpSpPr/>
          <p:nvPr/>
        </p:nvGrpSpPr>
        <p:grpSpPr>
          <a:xfrm>
            <a:off x="822750" y="2901119"/>
            <a:ext cx="5212500" cy="1238009"/>
            <a:chOff x="4522157" y="3063009"/>
            <a:chExt cx="6950000" cy="1650679"/>
          </a:xfrm>
        </p:grpSpPr>
        <p:sp>
          <p:nvSpPr>
            <p:cNvPr id="15" name="Google Shape;2197;p40">
              <a:extLst>
                <a:ext uri="{FF2B5EF4-FFF2-40B4-BE49-F238E27FC236}">
                  <a16:creationId xmlns:a16="http://schemas.microsoft.com/office/drawing/2014/main" id="{04700355-F394-78DA-A7FA-53B2B63B0674}"/>
                </a:ext>
              </a:extLst>
            </p:cNvPr>
            <p:cNvSpPr txBox="1">
              <a:spLocks/>
            </p:cNvSpPr>
            <p:nvPr/>
          </p:nvSpPr>
          <p:spPr>
            <a:xfrm>
              <a:off x="4522157" y="3063009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What solution did we implement?</a:t>
              </a:r>
            </a:p>
          </p:txBody>
        </p:sp>
        <p:sp>
          <p:nvSpPr>
            <p:cNvPr id="23" name="Google Shape;2200;p40">
              <a:extLst>
                <a:ext uri="{FF2B5EF4-FFF2-40B4-BE49-F238E27FC236}">
                  <a16:creationId xmlns:a16="http://schemas.microsoft.com/office/drawing/2014/main" id="{AED6E220-52E9-EC65-7A4B-9BAF4DF3D748}"/>
                </a:ext>
              </a:extLst>
            </p:cNvPr>
            <p:cNvSpPr txBox="1">
              <a:spLocks/>
            </p:cNvSpPr>
            <p:nvPr/>
          </p:nvSpPr>
          <p:spPr>
            <a:xfrm>
              <a:off x="4572000" y="3443010"/>
              <a:ext cx="6900157" cy="1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050" b="1">
                  <a:solidFill>
                    <a:srgbClr val="4B5563"/>
                  </a:solidFill>
                  <a:latin typeface="Consolas"/>
                </a:rPr>
                <a:t>SokobanProblem</a:t>
              </a:r>
              <a:r>
                <a:rPr lang="en-US" sz="1200"/>
                <a:t> defines </a:t>
              </a:r>
              <a:r>
                <a:rPr lang="en-US" sz="1200" b="1">
                  <a:solidFill>
                    <a:srgbClr val="16A34A"/>
                  </a:solidFill>
                </a:rPr>
                <a:t>ACTIONS</a:t>
              </a:r>
              <a:r>
                <a:rPr lang="en-US" sz="1200"/>
                <a:t> (</a:t>
              </a:r>
              <a:r>
                <a:rPr lang="en-US" sz="1200" b="1">
                  <a:solidFill>
                    <a:srgbClr val="7C3AED"/>
                  </a:solidFill>
                </a:rPr>
                <a:t>N/S/E/W</a:t>
              </a:r>
              <a:r>
                <a:rPr lang="en-US" sz="1200"/>
                <a:t>: </a:t>
              </a:r>
              <a:r>
                <a:rPr lang="en-US" sz="1200" b="1">
                  <a:solidFill>
                    <a:srgbClr val="2563EB"/>
                  </a:solidFill>
                </a:rPr>
                <a:t>legal move or push</a:t>
              </a:r>
              <a:r>
                <a:rPr lang="en-US" sz="1200"/>
                <a:t>), </a:t>
              </a:r>
              <a:r>
                <a:rPr lang="en-US" sz="1200" b="1">
                  <a:solidFill>
                    <a:srgbClr val="16A34A"/>
                  </a:solidFill>
                </a:rPr>
                <a:t>RESULT</a:t>
              </a:r>
              <a:r>
                <a:rPr lang="en-US" sz="1200"/>
                <a:t>, </a:t>
              </a:r>
              <a:r>
                <a:rPr lang="en-US" sz="1200" b="1">
                  <a:solidFill>
                    <a:srgbClr val="16A34A"/>
                  </a:solidFill>
                </a:rPr>
                <a:t>GOAL_TEST</a:t>
              </a:r>
              <a:r>
                <a:rPr lang="en-US" sz="1200"/>
                <a:t> and </a:t>
              </a:r>
              <a:r>
                <a:rPr lang="en-US" sz="1200" b="1">
                  <a:solidFill>
                    <a:srgbClr val="F59E0B"/>
                  </a:solidFill>
                </a:rPr>
                <a:t>step cost = 1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2563EB"/>
                  </a:solidFill>
                </a:rPr>
                <a:t>State key</a:t>
              </a:r>
              <a:r>
                <a:rPr lang="en-US" sz="1200"/>
                <a:t> = (agent, sorted boxes) → </a:t>
              </a:r>
              <a:r>
                <a:rPr lang="en-US" sz="1200" b="1">
                  <a:solidFill>
                    <a:srgbClr val="16A34A"/>
                  </a:solidFill>
                </a:rPr>
                <a:t>O(1)</a:t>
              </a:r>
              <a:r>
                <a:rPr lang="en-US" sz="1200"/>
                <a:t> </a:t>
              </a:r>
              <a:r>
                <a:rPr lang="en-US" sz="1200" b="1">
                  <a:solidFill>
                    <a:srgbClr val="F59E0B"/>
                  </a:solidFill>
                </a:rPr>
                <a:t>visited check</a:t>
              </a:r>
              <a:r>
                <a:rPr lang="en-US" sz="1200"/>
                <a:t>, shared by </a:t>
              </a:r>
              <a:r>
                <a:rPr lang="en-US" sz="1200" b="1">
                  <a:solidFill>
                    <a:srgbClr val="2563EB"/>
                  </a:solidFill>
                </a:rPr>
                <a:t>UCS</a:t>
              </a:r>
              <a:r>
                <a:rPr lang="en-US" sz="1200"/>
                <a:t> and </a:t>
              </a:r>
              <a:r>
                <a:rPr lang="en-US" sz="1200" b="1">
                  <a:solidFill>
                    <a:srgbClr val="16A34A"/>
                  </a:solidFill>
                </a:rPr>
                <a:t>A*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5B65069-536A-BA6C-C463-93CCBFDE0950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3093688"/>
              <a:ext cx="0" cy="162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9861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State-Space Formulation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7220" y="1465898"/>
            <a:ext cx="2537460" cy="425196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l"/>
            <a:r>
              <a:rPr sz="1050" b="1">
                <a:solidFill>
                  <a:srgbClr val="2563EB"/>
                </a:solidFill>
                <a:latin typeface="Barlow Semi Condensed"/>
              </a:rPr>
              <a:t>State  </a:t>
            </a:r>
            <a:r>
              <a:rPr sz="1050">
                <a:solidFill>
                  <a:srgbClr val="3D3D3D"/>
                </a:solidFill>
                <a:latin typeface="Barlow Semi Condensed"/>
              </a:rPr>
              <a:t>agent position + box positions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" y="1986278"/>
            <a:ext cx="2537460" cy="425196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r>
              <a:rPr sz="1050" b="1">
                <a:solidFill>
                  <a:srgbClr val="2563EB"/>
                </a:solidFill>
                <a:latin typeface="Barlow Semi Condensed"/>
              </a:rPr>
              <a:t>Actions  </a:t>
            </a:r>
            <a:r>
              <a:rPr sz="1050">
                <a:solidFill>
                  <a:srgbClr val="3D3D3D"/>
                </a:solidFill>
                <a:latin typeface="Barlow Semi Condensed"/>
              </a:rPr>
              <a:t>North · South · East · West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" y="2508314"/>
            <a:ext cx="2537460" cy="425196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l"/>
            <a:r>
              <a:rPr sz="1050" b="1">
                <a:solidFill>
                  <a:srgbClr val="2563EB"/>
                </a:solidFill>
                <a:latin typeface="Barlow Semi Condensed"/>
              </a:rPr>
              <a:t>Transition  </a:t>
            </a:r>
            <a:r>
              <a:rPr sz="1050">
                <a:solidFill>
                  <a:srgbClr val="3D3D3D"/>
                </a:solidFill>
                <a:latin typeface="Barlow Semi Condensed"/>
              </a:rPr>
              <a:t>move; push a box if the cell behind is free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" y="3029522"/>
            <a:ext cx="2537460" cy="425196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l"/>
            <a:r>
              <a:rPr sz="1050" b="1">
                <a:solidFill>
                  <a:srgbClr val="2563EB"/>
                </a:solidFill>
                <a:latin typeface="Barlow Semi Condensed"/>
              </a:rPr>
              <a:t>Goal test  </a:t>
            </a:r>
            <a:r>
              <a:rPr sz="1050">
                <a:solidFill>
                  <a:srgbClr val="3D3D3D"/>
                </a:solidFill>
                <a:latin typeface="Barlow Semi Condensed"/>
              </a:rPr>
              <a:t>all boxes sit on goals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" y="3550730"/>
            <a:ext cx="2537460" cy="425196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l"/>
            <a:r>
              <a:rPr sz="1050" b="1">
                <a:solidFill>
                  <a:srgbClr val="2563EB"/>
                </a:solidFill>
                <a:latin typeface="Barlow Semi Condensed"/>
              </a:rPr>
              <a:t>Step cost  </a:t>
            </a:r>
            <a:r>
              <a:rPr sz="1050">
                <a:solidFill>
                  <a:srgbClr val="3D3D3D"/>
                </a:solidFill>
                <a:latin typeface="Barlow Semi Condensed"/>
              </a:rPr>
              <a:t>1 per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6130" y="1431608"/>
            <a:ext cx="2880360" cy="2057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wrap="square" lIns="54864" tIns="27432" rIns="54864" bIns="27432" rtlCol="0" anchor="ctr"/>
          <a:lstStyle/>
          <a:p>
            <a:pPr algn="l"/>
            <a:r>
              <a:rPr sz="1050" b="1">
                <a:solidFill>
                  <a:srgbClr val="477797"/>
                </a:solidFill>
                <a:latin typeface="Barlow Semi Condensed"/>
              </a:rPr>
              <a:t>Transition diagram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740218"/>
            <a:ext cx="685800" cy="65151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 b="1">
                <a:solidFill>
                  <a:srgbClr val="3D3D3D"/>
                </a:solidFill>
                <a:latin typeface="Barlow Semi Condensed"/>
              </a:rPr>
              <a:t>S</a:t>
            </a:r>
            <a:r>
              <a:rPr lang="en-US" sz="900" b="1">
                <a:solidFill>
                  <a:srgbClr val="3D3D3D"/>
                </a:solidFill>
                <a:latin typeface="Barlow Semi Condensed"/>
              </a:rPr>
              <a:t>tep </a:t>
            </a:r>
            <a:r>
              <a:rPr sz="900" b="1">
                <a:solidFill>
                  <a:srgbClr val="3D3D3D"/>
                </a:solidFill>
                <a:latin typeface="Barlow Semi Condensed"/>
              </a:rPr>
              <a:t>0</a:t>
            </a:r>
          </a:p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agent (2,3)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4830" y="1740218"/>
            <a:ext cx="685800" cy="65151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 b="1">
                <a:solidFill>
                  <a:srgbClr val="3D3D3D"/>
                </a:solidFill>
                <a:latin typeface="Barlow Semi Condensed"/>
              </a:rPr>
              <a:t>S</a:t>
            </a:r>
            <a:r>
              <a:rPr lang="en-US" sz="900" b="1">
                <a:solidFill>
                  <a:srgbClr val="3D3D3D"/>
                </a:solidFill>
                <a:latin typeface="Barlow Semi Condensed"/>
              </a:rPr>
              <a:t>tep </a:t>
            </a:r>
            <a:r>
              <a:rPr sz="900" b="1">
                <a:solidFill>
                  <a:srgbClr val="3D3D3D"/>
                </a:solidFill>
                <a:latin typeface="Barlow Semi Condensed"/>
              </a:rPr>
              <a:t>1</a:t>
            </a:r>
          </a:p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agent (2,4)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17820" y="1740218"/>
            <a:ext cx="685800" cy="65151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 b="1">
                <a:solidFill>
                  <a:srgbClr val="3D3D3D"/>
                </a:solidFill>
                <a:latin typeface="Barlow Semi Condensed"/>
              </a:rPr>
              <a:t>S</a:t>
            </a:r>
            <a:r>
              <a:rPr lang="en-US" sz="900" b="1">
                <a:solidFill>
                  <a:srgbClr val="3D3D3D"/>
                </a:solidFill>
                <a:latin typeface="Barlow Semi Condensed"/>
              </a:rPr>
              <a:t>tep </a:t>
            </a:r>
            <a:r>
              <a:rPr sz="900" b="1">
                <a:solidFill>
                  <a:srgbClr val="3D3D3D"/>
                </a:solidFill>
                <a:latin typeface="Barlow Semi Condensed"/>
              </a:rPr>
              <a:t>2</a:t>
            </a:r>
          </a:p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Goal ✓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77640" y="2062543"/>
            <a:ext cx="377190" cy="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3" name="Rounded Rectangle 12"/>
          <p:cNvSpPr/>
          <p:nvPr/>
        </p:nvSpPr>
        <p:spPr>
          <a:xfrm>
            <a:off x="3943350" y="1808798"/>
            <a:ext cx="445770" cy="2057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750">
                <a:solidFill>
                  <a:srgbClr val="477797"/>
                </a:solidFill>
                <a:latin typeface="Barlow Semi Condensed"/>
              </a:rPr>
              <a:t>East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40630" y="2062543"/>
            <a:ext cx="377190" cy="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5" name="Rounded Rectangle 14"/>
          <p:cNvSpPr/>
          <p:nvPr/>
        </p:nvSpPr>
        <p:spPr>
          <a:xfrm>
            <a:off x="5006340" y="1747075"/>
            <a:ext cx="445770" cy="2057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750">
                <a:solidFill>
                  <a:srgbClr val="477797"/>
                </a:solidFill>
                <a:latin typeface="Barlow Semi Condensed"/>
              </a:rPr>
              <a:t>South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1" y="2411474"/>
            <a:ext cx="2811779" cy="2057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825">
                <a:solidFill>
                  <a:srgbClr val="477797"/>
                </a:solidFill>
                <a:latin typeface="Barlow Semi Condensed"/>
              </a:rPr>
              <a:t>each arrow: cost = 1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658DEA2-D10C-E251-1DFE-9783FEF1C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617213"/>
            <a:ext cx="1680210" cy="17970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7E991-C817-F916-C5E0-76A29D9F8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44B70-9C59-5A9D-AB9B-42A8B321A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State-Space Formulation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7E6E94B-ABE4-2F87-818E-92D6564C7E77}"/>
              </a:ext>
            </a:extLst>
          </p:cNvPr>
          <p:cNvSpPr/>
          <p:nvPr/>
        </p:nvSpPr>
        <p:spPr>
          <a:xfrm>
            <a:off x="548640" y="1273811"/>
            <a:ext cx="2880360" cy="2057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wrap="square" lIns="54864" tIns="27432" rIns="54864" bIns="27432" rtlCol="0" anchor="ctr"/>
          <a:lstStyle/>
          <a:p>
            <a:pPr algn="l"/>
            <a:r>
              <a:rPr sz="1050" b="1">
                <a:solidFill>
                  <a:srgbClr val="477797"/>
                </a:solidFill>
                <a:latin typeface="Barlow Semi Condensed"/>
              </a:rPr>
              <a:t>Transition diagram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B5AD06-7158-E049-693B-97DE62E36F58}"/>
              </a:ext>
            </a:extLst>
          </p:cNvPr>
          <p:cNvSpPr/>
          <p:nvPr/>
        </p:nvSpPr>
        <p:spPr>
          <a:xfrm>
            <a:off x="1042371" y="1514426"/>
            <a:ext cx="685800" cy="65151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 b="1">
                <a:solidFill>
                  <a:srgbClr val="3D3D3D"/>
                </a:solidFill>
                <a:latin typeface="Barlow Semi Condensed"/>
              </a:rPr>
              <a:t>S</a:t>
            </a:r>
            <a:r>
              <a:rPr lang="en-US" sz="900" b="1">
                <a:solidFill>
                  <a:srgbClr val="3D3D3D"/>
                </a:solidFill>
                <a:latin typeface="Barlow Semi Condensed"/>
              </a:rPr>
              <a:t>tep </a:t>
            </a:r>
            <a:r>
              <a:rPr sz="900" b="1">
                <a:solidFill>
                  <a:srgbClr val="3D3D3D"/>
                </a:solidFill>
                <a:latin typeface="Barlow Semi Condensed"/>
              </a:rPr>
              <a:t>0</a:t>
            </a:r>
          </a:p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agent (2,3)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DDBC26-9713-8BE1-E189-1044D7E1A6D3}"/>
              </a:ext>
            </a:extLst>
          </p:cNvPr>
          <p:cNvSpPr/>
          <p:nvPr/>
        </p:nvSpPr>
        <p:spPr>
          <a:xfrm>
            <a:off x="3086100" y="1530924"/>
            <a:ext cx="685800" cy="65151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 b="1">
                <a:solidFill>
                  <a:srgbClr val="3D3D3D"/>
                </a:solidFill>
                <a:latin typeface="Barlow Semi Condensed"/>
              </a:rPr>
              <a:t>S</a:t>
            </a:r>
            <a:r>
              <a:rPr lang="en-US" sz="900" b="1">
                <a:solidFill>
                  <a:srgbClr val="3D3D3D"/>
                </a:solidFill>
                <a:latin typeface="Barlow Semi Condensed"/>
              </a:rPr>
              <a:t>tesp </a:t>
            </a:r>
            <a:r>
              <a:rPr sz="900" b="1">
                <a:solidFill>
                  <a:srgbClr val="3D3D3D"/>
                </a:solidFill>
                <a:latin typeface="Barlow Semi Condensed"/>
              </a:rPr>
              <a:t>1</a:t>
            </a:r>
          </a:p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agent (2,4)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55EFC16-9531-BE8A-5407-ABCB8F33FD8D}"/>
              </a:ext>
            </a:extLst>
          </p:cNvPr>
          <p:cNvSpPr/>
          <p:nvPr/>
        </p:nvSpPr>
        <p:spPr>
          <a:xfrm>
            <a:off x="5129829" y="1514426"/>
            <a:ext cx="685800" cy="65151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 b="1">
                <a:solidFill>
                  <a:srgbClr val="3D3D3D"/>
                </a:solidFill>
                <a:latin typeface="Barlow Semi Condensed"/>
              </a:rPr>
              <a:t>S</a:t>
            </a:r>
            <a:r>
              <a:rPr lang="en-US" sz="900" b="1">
                <a:solidFill>
                  <a:srgbClr val="3D3D3D"/>
                </a:solidFill>
                <a:latin typeface="Barlow Semi Condensed"/>
              </a:rPr>
              <a:t>tep </a:t>
            </a:r>
            <a:r>
              <a:rPr sz="900" b="1">
                <a:solidFill>
                  <a:srgbClr val="3D3D3D"/>
                </a:solidFill>
                <a:latin typeface="Barlow Semi Condensed"/>
              </a:rPr>
              <a:t>2</a:t>
            </a:r>
          </a:p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Goal ✓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6988FE86-9617-869B-CCA4-01F133BDACEE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1728171" y="1840182"/>
            <a:ext cx="1357929" cy="16498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E99F9CA-B066-918C-E148-5BFB2F3EF26F}"/>
              </a:ext>
            </a:extLst>
          </p:cNvPr>
          <p:cNvSpPr/>
          <p:nvPr/>
        </p:nvSpPr>
        <p:spPr>
          <a:xfrm>
            <a:off x="2177415" y="1650939"/>
            <a:ext cx="445770" cy="2057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750">
                <a:solidFill>
                  <a:srgbClr val="477797"/>
                </a:solidFill>
                <a:latin typeface="Barlow Semi Condensed"/>
              </a:rPr>
              <a:t>East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0580412E-10C0-09A8-522A-6E22EEBCFC77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3771900" y="1840182"/>
            <a:ext cx="1357929" cy="16498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F824FF-27B2-D2CB-12C5-A1BE30653F5C}"/>
              </a:ext>
            </a:extLst>
          </p:cNvPr>
          <p:cNvSpPr/>
          <p:nvPr/>
        </p:nvSpPr>
        <p:spPr>
          <a:xfrm>
            <a:off x="4030641" y="1642690"/>
            <a:ext cx="756288" cy="2057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750">
                <a:solidFill>
                  <a:srgbClr val="477797"/>
                </a:solidFill>
                <a:latin typeface="Barlow Semi Condensed"/>
              </a:rPr>
              <a:t>South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3197F70-AC21-829A-4068-5B6E9BE3E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88" y="2200811"/>
            <a:ext cx="1932166" cy="206657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EF79EC3-9FBB-FF69-3527-812ECAFDF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7117" y="2233807"/>
            <a:ext cx="1843766" cy="206657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ED73F59-F385-1DF8-E185-E76E426F4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401" y="2272570"/>
            <a:ext cx="2023000" cy="208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03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7221" y="1465898"/>
            <a:ext cx="2983229" cy="257175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lang="en-US" sz="900" b="1">
                <a:solidFill>
                  <a:srgbClr val="2563EB"/>
                </a:solidFill>
                <a:latin typeface="Consolas"/>
              </a:rPr>
              <a:t>ACTIONS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(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s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):</a:t>
            </a: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for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d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in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{N, S, E, W}:</a:t>
            </a: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 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next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DB2777"/>
                </a:solidFill>
                <a:latin typeface="Consolas"/>
              </a:rPr>
              <a:t>←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agent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DB2777"/>
                </a:solidFill>
                <a:latin typeface="Consolas"/>
              </a:rPr>
              <a:t>+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d</a:t>
            </a: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 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if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F59E0B"/>
                </a:solidFill>
                <a:latin typeface="Consolas"/>
              </a:rPr>
              <a:t>next is wall / outside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: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skip</a:t>
            </a: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 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if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F59E0B"/>
                </a:solidFill>
                <a:latin typeface="Consolas"/>
              </a:rPr>
              <a:t>next has a box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:</a:t>
            </a: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   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target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DB2777"/>
                </a:solidFill>
                <a:latin typeface="Consolas"/>
              </a:rPr>
              <a:t>←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next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DB2777"/>
                </a:solidFill>
                <a:latin typeface="Consolas"/>
              </a:rPr>
              <a:t>+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d</a:t>
            </a: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   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if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F59E0B"/>
                </a:solidFill>
                <a:latin typeface="Consolas"/>
              </a:rPr>
              <a:t>target is wall or box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: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skip</a:t>
            </a: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 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add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d</a:t>
            </a:r>
          </a:p>
          <a:p>
            <a:endParaRPr lang="en-US" sz="900">
              <a:latin typeface="Consolas"/>
            </a:endParaRPr>
          </a:p>
          <a:p>
            <a:pPr algn="l"/>
            <a:r>
              <a:rPr lang="en-US" sz="900" b="1">
                <a:solidFill>
                  <a:srgbClr val="2563EB"/>
                </a:solidFill>
                <a:latin typeface="Consolas"/>
              </a:rPr>
              <a:t>RESULT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(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s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,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d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):</a:t>
            </a: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move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agent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to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next</a:t>
            </a: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if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F59E0B"/>
                </a:solidFill>
                <a:latin typeface="Consolas"/>
              </a:rPr>
              <a:t>a box was there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: </a:t>
            </a:r>
            <a:r>
              <a:rPr lang="en-US" sz="900" b="1">
                <a:solidFill>
                  <a:srgbClr val="F59E0B"/>
                </a:solidFill>
                <a:latin typeface="Consolas"/>
              </a:rPr>
              <a:t>push it to target</a:t>
            </a:r>
          </a:p>
          <a:p>
            <a:endParaRPr lang="en-US" sz="900">
              <a:latin typeface="Consolas"/>
            </a:endParaRPr>
          </a:p>
          <a:p>
            <a:pPr algn="l"/>
            <a:r>
              <a:rPr lang="en-US" sz="900" b="1">
                <a:solidFill>
                  <a:srgbClr val="16A34A"/>
                </a:solidFill>
                <a:latin typeface="Consolas"/>
              </a:rPr>
              <a:t>GOAL_TEST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(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s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): </a:t>
            </a:r>
            <a:r>
              <a:rPr lang="en-US" sz="900" b="1">
                <a:solidFill>
                  <a:srgbClr val="16A34A"/>
                </a:solidFill>
                <a:latin typeface="Consolas"/>
              </a:rPr>
              <a:t>boxes == goals</a:t>
            </a:r>
          </a:p>
          <a:p>
            <a:pPr algn="l"/>
            <a:r>
              <a:rPr lang="en-US" sz="900" b="1">
                <a:solidFill>
                  <a:srgbClr val="2563EB"/>
                </a:solidFill>
                <a:latin typeface="Consolas"/>
              </a:rPr>
              <a:t>STATE_KEY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(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s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): (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agent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, sorted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boxes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71900" y="1465898"/>
            <a:ext cx="2468880" cy="8983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050" b="1">
                <a:solidFill>
                  <a:srgbClr val="16A34A"/>
                </a:solidFill>
                <a:latin typeface="Barlow Semi Condensed"/>
              </a:rPr>
              <a:t>Pros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Textbook, clear formulation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O(1)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 set lookups; key avoids revisits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Shared by </a:t>
            </a:r>
            <a:r>
              <a:rPr sz="900" b="1">
                <a:solidFill>
                  <a:srgbClr val="2563EB"/>
                </a:solidFill>
                <a:latin typeface="Barlow Semi Condensed"/>
              </a:rPr>
              <a:t>UCS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 and </a:t>
            </a:r>
            <a:r>
              <a:rPr sz="900" b="1">
                <a:solidFill>
                  <a:srgbClr val="16A34A"/>
                </a:solidFill>
                <a:latin typeface="Barlow Semi Condensed"/>
              </a:rPr>
              <a:t>A*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71900" y="2432876"/>
            <a:ext cx="24688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050" b="1">
                <a:solidFill>
                  <a:srgbClr val="F59E0B"/>
                </a:solidFill>
                <a:latin typeface="Barlow Semi Condensed"/>
              </a:rPr>
              <a:t>Cons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No general </a:t>
            </a:r>
            <a:r>
              <a:rPr sz="900" b="1">
                <a:solidFill>
                  <a:srgbClr val="DC2626"/>
                </a:solidFill>
                <a:latin typeface="Barlow Semi Condensed"/>
              </a:rPr>
              <a:t>deadlock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 detection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 b="1">
                <a:solidFill>
                  <a:srgbClr val="2563EB"/>
                </a:solidFill>
                <a:latin typeface="Barlow Semi Condensed"/>
              </a:rPr>
              <a:t>State space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 </a:t>
            </a:r>
            <a:r>
              <a:rPr sz="900" b="1">
                <a:solidFill>
                  <a:srgbClr val="DC2626"/>
                </a:solidFill>
                <a:latin typeface="Barlow Semi Condensed"/>
              </a:rPr>
              <a:t>explodes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 with more boxes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22B53CE1-A9DC-7F89-6C46-5C6D1CB53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F7EFD777-60B9-583C-7F29-269D2C46D8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5232" y="2420199"/>
            <a:ext cx="4187537" cy="6034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/>
            <a:r>
              <a:rPr lang="en-US" sz="2400"/>
              <a:t>RQ2: Search Algorithms</a:t>
            </a:r>
            <a:br>
              <a:rPr lang="vi-VN" sz="2400"/>
            </a:br>
            <a:r>
              <a:rPr lang="en-US" sz="2400"/>
              <a:t> UCS &amp; A*</a:t>
            </a:r>
            <a:endParaRPr lang="vi-VN" sz="2400"/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33F1285B-E90C-4B16-180F-9788BB299F6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28850" y="1513904"/>
            <a:ext cx="2225700" cy="8023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06647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>
          <a:extLst>
            <a:ext uri="{FF2B5EF4-FFF2-40B4-BE49-F238E27FC236}">
              <a16:creationId xmlns:a16="http://schemas.microsoft.com/office/drawing/2014/main" id="{D0BBDDB6-0822-227E-338E-62C4A138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40">
            <a:extLst>
              <a:ext uri="{FF2B5EF4-FFF2-40B4-BE49-F238E27FC236}">
                <a16:creationId xmlns:a16="http://schemas.microsoft.com/office/drawing/2014/main" id="{A195821F-0CF6-D7C6-04AE-D978B7B5B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5000" y="578030"/>
            <a:ext cx="4908000" cy="4457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lvl="0"/>
            <a:r>
              <a:rPr lang="en-US"/>
              <a:t>RQ2: Approach &amp; Solution</a:t>
            </a:r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A01B12-1A6B-1237-449A-ADA7D9FD6F6F}"/>
              </a:ext>
            </a:extLst>
          </p:cNvPr>
          <p:cNvGrpSpPr/>
          <p:nvPr/>
        </p:nvGrpSpPr>
        <p:grpSpPr>
          <a:xfrm>
            <a:off x="760090" y="1272454"/>
            <a:ext cx="5212500" cy="1275509"/>
            <a:chOff x="855759" y="3063010"/>
            <a:chExt cx="6950000" cy="1700678"/>
          </a:xfrm>
        </p:grpSpPr>
        <p:sp>
          <p:nvSpPr>
            <p:cNvPr id="12" name="Google Shape;2197;p40">
              <a:extLst>
                <a:ext uri="{FF2B5EF4-FFF2-40B4-BE49-F238E27FC236}">
                  <a16:creationId xmlns:a16="http://schemas.microsoft.com/office/drawing/2014/main" id="{2519E34C-2BCC-CFB5-6059-53A3EA6D7086}"/>
                </a:ext>
              </a:extLst>
            </p:cNvPr>
            <p:cNvSpPr txBox="1">
              <a:spLocks/>
            </p:cNvSpPr>
            <p:nvPr/>
          </p:nvSpPr>
          <p:spPr>
            <a:xfrm>
              <a:off x="855759" y="3063010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How did we approach it?</a:t>
              </a:r>
            </a:p>
          </p:txBody>
        </p:sp>
        <p:sp>
          <p:nvSpPr>
            <p:cNvPr id="16" name="Google Shape;2200;p40">
              <a:extLst>
                <a:ext uri="{FF2B5EF4-FFF2-40B4-BE49-F238E27FC236}">
                  <a16:creationId xmlns:a16="http://schemas.microsoft.com/office/drawing/2014/main" id="{8F754E9E-BE80-F964-29F2-4E14004B8AE8}"/>
                </a:ext>
              </a:extLst>
            </p:cNvPr>
            <p:cNvSpPr txBox="1">
              <a:spLocks/>
            </p:cNvSpPr>
            <p:nvPr/>
          </p:nvSpPr>
          <p:spPr>
            <a:xfrm>
              <a:off x="923683" y="3443010"/>
              <a:ext cx="6778171" cy="13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2563EB"/>
                  </a:solidFill>
                </a:rPr>
                <a:t>UCS</a:t>
              </a:r>
              <a:r>
                <a:rPr lang="en-US" sz="1200"/>
                <a:t> and </a:t>
              </a:r>
              <a:r>
                <a:rPr lang="en-US" sz="1200" b="1">
                  <a:solidFill>
                    <a:srgbClr val="16A34A"/>
                  </a:solidFill>
                </a:rPr>
                <a:t>A*</a:t>
              </a:r>
              <a:r>
                <a:rPr lang="en-US" sz="1200"/>
                <a:t> follow the same </a:t>
              </a:r>
              <a:r>
                <a:rPr lang="en-US" sz="1200" b="1">
                  <a:solidFill>
                    <a:srgbClr val="7C3AED"/>
                  </a:solidFill>
                </a:rPr>
                <a:t>graph-search structure</a:t>
              </a:r>
              <a:r>
                <a:rPr lang="en-US" sz="1200"/>
                <a:t>.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/>
                <a:t>The main difference is the </a:t>
              </a:r>
              <a:r>
                <a:rPr lang="en-US" sz="1200" b="1">
                  <a:solidFill>
                    <a:srgbClr val="7C3AED"/>
                  </a:solidFill>
                </a:rPr>
                <a:t>priority function</a:t>
              </a:r>
              <a:r>
                <a:rPr lang="en-US" sz="1200"/>
                <a:t>.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3E787B8-0783-0F40-9C8E-24FD9D19C04C}"/>
                </a:ext>
              </a:extLst>
            </p:cNvPr>
            <p:cNvCxnSpPr>
              <a:cxnSpLocks/>
            </p:cNvCxnSpPr>
            <p:nvPr/>
          </p:nvCxnSpPr>
          <p:spPr>
            <a:xfrm>
              <a:off x="923683" y="3093688"/>
              <a:ext cx="0" cy="167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E187A36-75A9-3551-39CF-2B0F3C7AD849}"/>
              </a:ext>
            </a:extLst>
          </p:cNvPr>
          <p:cNvGrpSpPr/>
          <p:nvPr/>
        </p:nvGrpSpPr>
        <p:grpSpPr>
          <a:xfrm>
            <a:off x="773109" y="2727938"/>
            <a:ext cx="5212500" cy="1237500"/>
            <a:chOff x="4522157" y="3063010"/>
            <a:chExt cx="6950000" cy="1650000"/>
          </a:xfrm>
        </p:grpSpPr>
        <p:sp>
          <p:nvSpPr>
            <p:cNvPr id="15" name="Google Shape;2197;p40">
              <a:extLst>
                <a:ext uri="{FF2B5EF4-FFF2-40B4-BE49-F238E27FC236}">
                  <a16:creationId xmlns:a16="http://schemas.microsoft.com/office/drawing/2014/main" id="{04700355-F394-78DA-A7FA-53B2B63B0674}"/>
                </a:ext>
              </a:extLst>
            </p:cNvPr>
            <p:cNvSpPr txBox="1">
              <a:spLocks/>
            </p:cNvSpPr>
            <p:nvPr/>
          </p:nvSpPr>
          <p:spPr>
            <a:xfrm>
              <a:off x="4522157" y="3063010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What solution did we implement?</a:t>
              </a:r>
            </a:p>
          </p:txBody>
        </p:sp>
        <p:sp>
          <p:nvSpPr>
            <p:cNvPr id="23" name="Google Shape;2200;p40">
              <a:extLst>
                <a:ext uri="{FF2B5EF4-FFF2-40B4-BE49-F238E27FC236}">
                  <a16:creationId xmlns:a16="http://schemas.microsoft.com/office/drawing/2014/main" id="{AED6E220-52E9-EC65-7A4B-9BAF4DF3D748}"/>
                </a:ext>
              </a:extLst>
            </p:cNvPr>
            <p:cNvSpPr txBox="1">
              <a:spLocks/>
            </p:cNvSpPr>
            <p:nvPr/>
          </p:nvSpPr>
          <p:spPr>
            <a:xfrm>
              <a:off x="4572000" y="3443010"/>
              <a:ext cx="6900157" cy="1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2563EB"/>
                  </a:solidFill>
                </a:rPr>
                <a:t>UCS</a:t>
              </a:r>
              <a:r>
                <a:rPr lang="en-US" sz="1200"/>
                <a:t>: pop the smallest </a:t>
              </a:r>
              <a:r>
                <a:rPr lang="en-US" sz="1200" b="1">
                  <a:solidFill>
                    <a:srgbClr val="2563EB"/>
                  </a:solidFill>
                </a:rPr>
                <a:t>g(n)</a:t>
              </a:r>
              <a:r>
                <a:rPr lang="en-US" sz="1200"/>
                <a:t>, guaranteed </a:t>
              </a:r>
              <a:r>
                <a:rPr lang="en-US" sz="1200" b="1">
                  <a:solidFill>
                    <a:srgbClr val="16A34A"/>
                  </a:solidFill>
                </a:rPr>
                <a:t>optimal</a:t>
              </a:r>
              <a:r>
                <a:rPr lang="en-US" sz="1200"/>
                <a:t> baseline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16A34A"/>
                  </a:solidFill>
                </a:rPr>
                <a:t>A*</a:t>
              </a:r>
              <a:r>
                <a:rPr lang="en-US" sz="1200"/>
                <a:t>: pop the smallest </a:t>
              </a:r>
              <a:r>
                <a:rPr lang="en-US" sz="1200" b="1">
                  <a:solidFill>
                    <a:srgbClr val="F59E0B"/>
                  </a:solidFill>
                </a:rPr>
                <a:t>f(n) = g(n) + h(n)</a:t>
              </a:r>
              <a:r>
                <a:rPr lang="en-US" sz="1200"/>
                <a:t>; states with </a:t>
              </a:r>
              <a:r>
                <a:rPr lang="en-US" sz="1200" b="1">
                  <a:solidFill>
                    <a:srgbClr val="DC2626"/>
                  </a:solidFill>
                </a:rPr>
                <a:t>h = ∞</a:t>
              </a:r>
              <a:r>
                <a:rPr lang="en-US" sz="1200"/>
                <a:t> are </a:t>
              </a:r>
              <a:r>
                <a:rPr lang="en-US" sz="1200" b="1">
                  <a:solidFill>
                    <a:srgbClr val="F59E0B"/>
                  </a:solidFill>
                </a:rPr>
                <a:t>pruned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/>
                <a:t>Optional </a:t>
              </a:r>
              <a:r>
                <a:rPr lang="en-US" sz="1200" b="1">
                  <a:solidFill>
                    <a:srgbClr val="F59E0B"/>
                  </a:solidFill>
                </a:rPr>
                <a:t>time limit</a:t>
              </a:r>
              <a:r>
                <a:rPr lang="en-US" sz="1200"/>
                <a:t>: on </a:t>
              </a:r>
              <a:r>
                <a:rPr lang="en-US" sz="1200" b="1">
                  <a:solidFill>
                    <a:srgbClr val="F59E0B"/>
                  </a:solidFill>
                </a:rPr>
                <a:t>timeout</a:t>
              </a:r>
              <a:r>
                <a:rPr lang="en-US" sz="1200"/>
                <a:t> the search returns </a:t>
              </a:r>
              <a:r>
                <a:rPr lang="en-US" sz="1200" b="1">
                  <a:solidFill>
                    <a:srgbClr val="DC2626"/>
                  </a:solidFill>
                </a:rPr>
                <a:t>STAY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5B65069-536A-BA6C-C463-93CCBFDE0950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3093688"/>
              <a:ext cx="0" cy="162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9861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UCS vs A*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7220" y="1431608"/>
            <a:ext cx="2743200" cy="2743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2563EB"/>
                </a:solidFill>
                <a:latin typeface="Barlow Semi Condensed"/>
              </a:rPr>
              <a:t>UCS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808798"/>
            <a:ext cx="2057400" cy="34290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3D3D3D"/>
                </a:solidFill>
                <a:latin typeface="Barlow Semi Condensed"/>
              </a:rPr>
              <a:t>Expand state 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88820" y="2151698"/>
            <a:ext cx="0" cy="150876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6" name="Rounded Rectangle 5"/>
          <p:cNvSpPr/>
          <p:nvPr/>
        </p:nvSpPr>
        <p:spPr>
          <a:xfrm>
            <a:off x="960120" y="2302574"/>
            <a:ext cx="2057400" cy="34290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2563EB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3D3D3D"/>
                </a:solidFill>
                <a:latin typeface="Barlow Semi Condensed"/>
              </a:rPr>
              <a:t>g(n) = cost so far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88820" y="2645474"/>
            <a:ext cx="0" cy="150875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8" name="Rounded Rectangle 7"/>
          <p:cNvSpPr/>
          <p:nvPr/>
        </p:nvSpPr>
        <p:spPr>
          <a:xfrm>
            <a:off x="960120" y="2796349"/>
            <a:ext cx="2057400" cy="34290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3D3D3D"/>
                </a:solidFill>
                <a:latin typeface="Barlow Semi Condensed"/>
              </a:rPr>
              <a:t>Priority queue (min-heap)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88820" y="3139249"/>
            <a:ext cx="0" cy="150876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0" name="Rounded Rectangle 9"/>
          <p:cNvSpPr/>
          <p:nvPr/>
        </p:nvSpPr>
        <p:spPr>
          <a:xfrm>
            <a:off x="960120" y="3290126"/>
            <a:ext cx="2057400" cy="34290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2563EB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3D3D3D"/>
                </a:solidFill>
                <a:latin typeface="Barlow Semi Condensed"/>
              </a:rPr>
              <a:t>Pop the smallest 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7580" y="1431608"/>
            <a:ext cx="2743200" cy="2743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59E0B"/>
                </a:solidFill>
                <a:latin typeface="Barlow Semi Condensed"/>
              </a:rPr>
              <a:t>A*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808798"/>
            <a:ext cx="2057400" cy="34290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3D3D3D"/>
                </a:solidFill>
                <a:latin typeface="Barlow Semi Condensed"/>
              </a:rPr>
              <a:t>Expand state 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69180" y="2151698"/>
            <a:ext cx="0" cy="150876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4" name="Rounded Rectangle 13"/>
          <p:cNvSpPr/>
          <p:nvPr/>
        </p:nvSpPr>
        <p:spPr>
          <a:xfrm>
            <a:off x="3840480" y="2302574"/>
            <a:ext cx="2057400" cy="3429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3D3D3D"/>
                </a:solidFill>
                <a:latin typeface="Barlow Semi Condensed"/>
              </a:rPr>
              <a:t>f(n) = g(n) + h(n)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69180" y="2645474"/>
            <a:ext cx="0" cy="150875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6" name="Rounded Rectangle 15"/>
          <p:cNvSpPr/>
          <p:nvPr/>
        </p:nvSpPr>
        <p:spPr>
          <a:xfrm>
            <a:off x="3840480" y="2796349"/>
            <a:ext cx="2057400" cy="34290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3D3D3D"/>
                </a:solidFill>
                <a:latin typeface="Barlow Semi Condensed"/>
              </a:rPr>
              <a:t>Priority queue (min-heap)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69180" y="3139249"/>
            <a:ext cx="0" cy="150876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8" name="Rounded Rectangle 17"/>
          <p:cNvSpPr/>
          <p:nvPr/>
        </p:nvSpPr>
        <p:spPr>
          <a:xfrm>
            <a:off x="3840480" y="3290126"/>
            <a:ext cx="2057400" cy="3429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3D3D3D"/>
                </a:solidFill>
                <a:latin typeface="Barlow Semi Condensed"/>
              </a:rPr>
              <a:t>Pop the smallest f</a:t>
            </a:r>
          </a:p>
        </p:txBody>
      </p:sp>
      <p:sp>
        <p:nvSpPr>
          <p:cNvPr id="19" name="Oval 18"/>
          <p:cNvSpPr/>
          <p:nvPr/>
        </p:nvSpPr>
        <p:spPr>
          <a:xfrm>
            <a:off x="3086100" y="2391728"/>
            <a:ext cx="411480" cy="411480"/>
          </a:xfrm>
          <a:prstGeom prst="ellipse">
            <a:avLst/>
          </a:prstGeom>
          <a:solidFill>
            <a:srgbClr val="77C6FC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Barlow Semi Condensed"/>
              </a:rPr>
              <a:t>vs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1" y="3729038"/>
            <a:ext cx="5623559" cy="37719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3D3D3D"/>
                </a:solidFill>
                <a:latin typeface="Barlow Semi Condensed"/>
              </a:rPr>
              <a:t>Same engine, one difference: </a:t>
            </a:r>
            <a:r>
              <a:rPr sz="1050" b="1">
                <a:solidFill>
                  <a:srgbClr val="2563EB"/>
                </a:solidFill>
                <a:latin typeface="Barlow Semi Condensed"/>
              </a:rPr>
              <a:t>the priority key.</a:t>
            </a:r>
            <a:r>
              <a:rPr sz="1050">
                <a:solidFill>
                  <a:srgbClr val="3D3D3D"/>
                </a:solidFill>
                <a:latin typeface="Barlow Semi Condensed"/>
              </a:rPr>
              <a:t>  Cost = 1 per move, so g = number of moves.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Pseudocode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0852" y="1355438"/>
            <a:ext cx="3154680" cy="277500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lang="en-US" sz="900" b="1">
                <a:solidFill>
                  <a:srgbClr val="2563EB"/>
                </a:solidFill>
                <a:latin typeface="Consolas"/>
              </a:rPr>
              <a:t>SEARCH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(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problem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,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key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):</a:t>
            </a: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</a:t>
            </a:r>
            <a:r>
              <a:rPr lang="en-US" sz="900" i="1">
                <a:solidFill>
                  <a:srgbClr val="9CA3AF"/>
                </a:solidFill>
                <a:latin typeface="Consolas"/>
              </a:rPr>
              <a:t>// key = g for UCS, g + h for A*</a:t>
            </a: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frontier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DB2777"/>
                </a:solidFill>
                <a:latin typeface="Consolas"/>
              </a:rPr>
              <a:t>←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2563EB"/>
                </a:solidFill>
                <a:latin typeface="Consolas"/>
              </a:rPr>
              <a:t>PQ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{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start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};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explored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DB2777"/>
                </a:solidFill>
                <a:latin typeface="Consolas"/>
              </a:rPr>
              <a:t>←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DB2777"/>
                </a:solidFill>
                <a:latin typeface="Consolas"/>
              </a:rPr>
              <a:t>∅</a:t>
            </a:r>
          </a:p>
          <a:p>
            <a:endParaRPr lang="en-US" sz="900">
              <a:latin typeface="Consolas"/>
            </a:endParaRP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while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F59E0B"/>
                </a:solidFill>
                <a:latin typeface="Consolas"/>
              </a:rPr>
              <a:t>frontier not empty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:</a:t>
            </a: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 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if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F59E0B"/>
                </a:solidFill>
                <a:latin typeface="Consolas"/>
              </a:rPr>
              <a:t>time limit exceeded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: </a:t>
            </a:r>
            <a:r>
              <a:rPr lang="vi-VN" sz="900" b="1">
                <a:solidFill>
                  <a:srgbClr val="DC2626"/>
                </a:solidFill>
                <a:latin typeface="Consolas"/>
              </a:rPr>
              <a:t>RETURN TIMEOUT</a:t>
            </a:r>
            <a:endParaRPr lang="en-US" sz="900" b="1">
              <a:solidFill>
                <a:srgbClr val="DC2626"/>
              </a:solidFill>
              <a:latin typeface="Consolas"/>
            </a:endParaRP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 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n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DB2777"/>
                </a:solidFill>
                <a:latin typeface="Consolas"/>
              </a:rPr>
              <a:t>←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F59E0B"/>
                </a:solidFill>
                <a:latin typeface="Consolas"/>
              </a:rPr>
              <a:t>pop smallest priority</a:t>
            </a:r>
          </a:p>
          <a:p>
            <a:endParaRPr lang="en-US" sz="900">
              <a:latin typeface="Consolas"/>
            </a:endParaRP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 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if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n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.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state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DB2777"/>
                </a:solidFill>
                <a:latin typeface="Consolas"/>
              </a:rPr>
              <a:t>∈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explored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: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continue</a:t>
            </a: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 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explored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DB2777"/>
                </a:solidFill>
                <a:latin typeface="Consolas"/>
              </a:rPr>
              <a:t>←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explored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DB2777"/>
                </a:solidFill>
                <a:latin typeface="Consolas"/>
              </a:rPr>
              <a:t>∪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{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n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.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state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}</a:t>
            </a: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 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if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16A34A"/>
                </a:solidFill>
                <a:latin typeface="Consolas"/>
              </a:rPr>
              <a:t>GOAL_TEST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(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n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.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state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): </a:t>
            </a:r>
            <a:r>
              <a:rPr lang="en-US" sz="900" b="1">
                <a:solidFill>
                  <a:srgbClr val="16A34A"/>
                </a:solidFill>
                <a:latin typeface="Consolas"/>
              </a:rPr>
              <a:t>return path</a:t>
            </a:r>
          </a:p>
          <a:p>
            <a:endParaRPr lang="en-US" sz="900">
              <a:latin typeface="Consolas"/>
            </a:endParaRP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 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for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a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in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2563EB"/>
                </a:solidFill>
                <a:latin typeface="Consolas"/>
              </a:rPr>
              <a:t>ACTIONS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(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n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.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state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):</a:t>
            </a: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   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s'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DB2777"/>
                </a:solidFill>
                <a:latin typeface="Consolas"/>
              </a:rPr>
              <a:t>←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2563EB"/>
                </a:solidFill>
                <a:latin typeface="Consolas"/>
              </a:rPr>
              <a:t>RESULT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(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n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.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state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,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a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)</a:t>
            </a: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   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if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 b="1">
                <a:solidFill>
                  <a:srgbClr val="DC2626"/>
                </a:solidFill>
                <a:latin typeface="Consolas"/>
              </a:rPr>
              <a:t>h(s') = ∞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: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skip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  </a:t>
            </a:r>
            <a:r>
              <a:rPr lang="en-US" sz="900" i="1">
                <a:solidFill>
                  <a:srgbClr val="9CA3AF"/>
                </a:solidFill>
                <a:latin typeface="Consolas"/>
              </a:rPr>
              <a:t>// A* only</a:t>
            </a: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    </a:t>
            </a:r>
            <a:r>
              <a:rPr lang="en-US" sz="900" b="1">
                <a:solidFill>
                  <a:srgbClr val="7C3AED"/>
                </a:solidFill>
                <a:latin typeface="Consolas"/>
              </a:rPr>
              <a:t>push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s'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 with 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key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(</a:t>
            </a:r>
            <a:r>
              <a:rPr lang="en-US" sz="900">
                <a:solidFill>
                  <a:srgbClr val="0891B2"/>
                </a:solidFill>
                <a:latin typeface="Consolas"/>
              </a:rPr>
              <a:t>s'</a:t>
            </a:r>
            <a:r>
              <a:rPr lang="en-US" sz="900">
                <a:solidFill>
                  <a:srgbClr val="3D3D3D"/>
                </a:solidFill>
                <a:latin typeface="Consolas"/>
              </a:rPr>
              <a:t>)</a:t>
            </a:r>
          </a:p>
          <a:p>
            <a:endParaRPr lang="en-US" sz="900">
              <a:latin typeface="Consolas"/>
            </a:endParaRPr>
          </a:p>
          <a:p>
            <a:pPr algn="l"/>
            <a:r>
              <a:rPr lang="en-US" sz="900">
                <a:solidFill>
                  <a:srgbClr val="3D3D3D"/>
                </a:solidFill>
                <a:latin typeface="Consolas"/>
              </a:rPr>
              <a:t>  </a:t>
            </a:r>
            <a:r>
              <a:rPr lang="en-US" sz="900" b="1">
                <a:solidFill>
                  <a:srgbClr val="DC2626"/>
                </a:solidFill>
                <a:latin typeface="Consolas"/>
              </a:rPr>
              <a:t>return failure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09060" y="1465898"/>
            <a:ext cx="2331720" cy="10355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050" b="1">
                <a:solidFill>
                  <a:srgbClr val="2563EB"/>
                </a:solidFill>
                <a:latin typeface="Barlow Semi Condensed"/>
              </a:rPr>
              <a:t>UCS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Optimal, no </a:t>
            </a:r>
            <a:r>
              <a:rPr sz="900" b="1">
                <a:solidFill>
                  <a:srgbClr val="F59E0B"/>
                </a:solidFill>
                <a:latin typeface="Barlow Semi Condensed"/>
              </a:rPr>
              <a:t>heuristic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 needed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Perfect baseline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Expands huge state sets, big frontier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09060" y="2570036"/>
            <a:ext cx="2331720" cy="8983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050" b="1">
                <a:solidFill>
                  <a:srgbClr val="F59E0B"/>
                </a:solidFill>
                <a:latin typeface="Barlow Semi Condensed"/>
              </a:rPr>
              <a:t>A*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Far fewer nodes + early pruning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Only as good as h (ours is coarse)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No best-g map / re-open logic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892DD257-DE57-2586-479E-7C28981E5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C511E11F-9FF3-0269-1AB1-80B5214E25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768" y="2420199"/>
            <a:ext cx="4956464" cy="6034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/>
            <a:r>
              <a:rPr lang="en-US" sz="2400"/>
              <a:t>Heuristic Function for A*</a:t>
            </a:r>
            <a:endParaRPr lang="vi-VN" sz="2400"/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4340C7DD-F1EE-620C-3C77-5D49EF0347E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28850" y="1513904"/>
            <a:ext cx="2225700" cy="8023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/>
              <a:t>05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93654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>
          <a:extLst>
            <a:ext uri="{FF2B5EF4-FFF2-40B4-BE49-F238E27FC236}">
              <a16:creationId xmlns:a16="http://schemas.microsoft.com/office/drawing/2014/main" id="{D0BBDDB6-0822-227E-338E-62C4A138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40">
            <a:extLst>
              <a:ext uri="{FF2B5EF4-FFF2-40B4-BE49-F238E27FC236}">
                <a16:creationId xmlns:a16="http://schemas.microsoft.com/office/drawing/2014/main" id="{A195821F-0CF6-D7C6-04AE-D978B7B5B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5000" y="571101"/>
            <a:ext cx="4908000" cy="4457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lvl="0"/>
            <a:r>
              <a:rPr lang="en-US"/>
              <a:t>Heuristic: Approach &amp; Solution</a:t>
            </a:r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A01B12-1A6B-1237-449A-ADA7D9FD6F6F}"/>
              </a:ext>
            </a:extLst>
          </p:cNvPr>
          <p:cNvGrpSpPr/>
          <p:nvPr/>
        </p:nvGrpSpPr>
        <p:grpSpPr>
          <a:xfrm>
            <a:off x="792995" y="1272455"/>
            <a:ext cx="5212500" cy="1275509"/>
            <a:chOff x="899632" y="3063010"/>
            <a:chExt cx="6950000" cy="1700678"/>
          </a:xfrm>
        </p:grpSpPr>
        <p:sp>
          <p:nvSpPr>
            <p:cNvPr id="12" name="Google Shape;2197;p40">
              <a:extLst>
                <a:ext uri="{FF2B5EF4-FFF2-40B4-BE49-F238E27FC236}">
                  <a16:creationId xmlns:a16="http://schemas.microsoft.com/office/drawing/2014/main" id="{2519E34C-2BCC-CFB5-6059-53A3EA6D7086}"/>
                </a:ext>
              </a:extLst>
            </p:cNvPr>
            <p:cNvSpPr txBox="1">
              <a:spLocks/>
            </p:cNvSpPr>
            <p:nvPr/>
          </p:nvSpPr>
          <p:spPr>
            <a:xfrm>
              <a:off x="899632" y="3063010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How did we approach it?</a:t>
              </a:r>
            </a:p>
          </p:txBody>
        </p:sp>
        <p:sp>
          <p:nvSpPr>
            <p:cNvPr id="16" name="Google Shape;2200;p40">
              <a:extLst>
                <a:ext uri="{FF2B5EF4-FFF2-40B4-BE49-F238E27FC236}">
                  <a16:creationId xmlns:a16="http://schemas.microsoft.com/office/drawing/2014/main" id="{8F754E9E-BE80-F964-29F2-4E14004B8AE8}"/>
                </a:ext>
              </a:extLst>
            </p:cNvPr>
            <p:cNvSpPr txBox="1">
              <a:spLocks/>
            </p:cNvSpPr>
            <p:nvPr/>
          </p:nvSpPr>
          <p:spPr>
            <a:xfrm>
              <a:off x="923683" y="3443010"/>
              <a:ext cx="6778171" cy="13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/>
                <a:t>Design a </a:t>
              </a:r>
              <a:r>
                <a:rPr lang="en-US" sz="1200" b="1"/>
                <a:t>problem-specific</a:t>
              </a:r>
              <a:r>
                <a:rPr lang="en-US" sz="1200"/>
                <a:t> </a:t>
              </a:r>
              <a:r>
                <a:rPr lang="en-US" sz="1200" b="1">
                  <a:solidFill>
                    <a:srgbClr val="F59E0B"/>
                  </a:solidFill>
                </a:rPr>
                <a:t>heuristic</a:t>
              </a:r>
              <a:r>
                <a:rPr lang="en-US" sz="1200"/>
                <a:t> (not Manhattan / Euclidean)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2563EB"/>
                  </a:solidFill>
                </a:rPr>
                <a:t>Count the work left</a:t>
              </a:r>
              <a:r>
                <a:rPr lang="en-US" sz="1200"/>
                <a:t>, and detect states that </a:t>
              </a:r>
              <a:r>
                <a:rPr lang="en-US" sz="1200" b="1">
                  <a:solidFill>
                    <a:srgbClr val="DC2626"/>
                  </a:solidFill>
                </a:rPr>
                <a:t>can never be solved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3E787B8-0783-0F40-9C8E-24FD9D19C04C}"/>
                </a:ext>
              </a:extLst>
            </p:cNvPr>
            <p:cNvCxnSpPr>
              <a:cxnSpLocks/>
            </p:cNvCxnSpPr>
            <p:nvPr/>
          </p:nvCxnSpPr>
          <p:spPr>
            <a:xfrm>
              <a:off x="923683" y="3093688"/>
              <a:ext cx="0" cy="167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E187A36-75A9-3551-39CF-2B0F3C7AD849}"/>
              </a:ext>
            </a:extLst>
          </p:cNvPr>
          <p:cNvGrpSpPr/>
          <p:nvPr/>
        </p:nvGrpSpPr>
        <p:grpSpPr>
          <a:xfrm>
            <a:off x="773109" y="2727938"/>
            <a:ext cx="5212500" cy="1237500"/>
            <a:chOff x="4522157" y="3063010"/>
            <a:chExt cx="6950000" cy="1650000"/>
          </a:xfrm>
        </p:grpSpPr>
        <p:sp>
          <p:nvSpPr>
            <p:cNvPr id="15" name="Google Shape;2197;p40">
              <a:extLst>
                <a:ext uri="{FF2B5EF4-FFF2-40B4-BE49-F238E27FC236}">
                  <a16:creationId xmlns:a16="http://schemas.microsoft.com/office/drawing/2014/main" id="{04700355-F394-78DA-A7FA-53B2B63B0674}"/>
                </a:ext>
              </a:extLst>
            </p:cNvPr>
            <p:cNvSpPr txBox="1">
              <a:spLocks/>
            </p:cNvSpPr>
            <p:nvPr/>
          </p:nvSpPr>
          <p:spPr>
            <a:xfrm>
              <a:off x="4522157" y="3063010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What solution did we implement?</a:t>
              </a:r>
            </a:p>
          </p:txBody>
        </p:sp>
        <p:sp>
          <p:nvSpPr>
            <p:cNvPr id="23" name="Google Shape;2200;p40">
              <a:extLst>
                <a:ext uri="{FF2B5EF4-FFF2-40B4-BE49-F238E27FC236}">
                  <a16:creationId xmlns:a16="http://schemas.microsoft.com/office/drawing/2014/main" id="{AED6E220-52E9-EC65-7A4B-9BAF4DF3D748}"/>
                </a:ext>
              </a:extLst>
            </p:cNvPr>
            <p:cNvSpPr txBox="1">
              <a:spLocks/>
            </p:cNvSpPr>
            <p:nvPr/>
          </p:nvSpPr>
          <p:spPr>
            <a:xfrm>
              <a:off x="4572000" y="3443010"/>
              <a:ext cx="6900157" cy="1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F59E0B"/>
                  </a:solidFill>
                </a:rPr>
                <a:t>h(s)</a:t>
              </a:r>
              <a:r>
                <a:rPr lang="en-US" sz="1200"/>
                <a:t> = </a:t>
              </a:r>
              <a:r>
                <a:rPr lang="en-US" sz="1200" b="1">
                  <a:solidFill>
                    <a:srgbClr val="2563EB"/>
                  </a:solidFill>
                </a:rPr>
                <a:t>number of boxes not on a goal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/>
                <a:t>Box in a wall corner and not on a goal → </a:t>
              </a:r>
              <a:r>
                <a:rPr lang="en-US" sz="1200" b="1">
                  <a:solidFill>
                    <a:srgbClr val="F59E0B"/>
                  </a:solidFill>
                </a:rPr>
                <a:t>h(s)</a:t>
              </a:r>
              <a:r>
                <a:rPr lang="en-US" sz="1200"/>
                <a:t> = </a:t>
              </a:r>
              <a:r>
                <a:rPr lang="en-US" sz="1200" b="1">
                  <a:solidFill>
                    <a:srgbClr val="F59E0B"/>
                  </a:solidFill>
                </a:rPr>
                <a:t>∞</a:t>
              </a:r>
              <a:r>
                <a:rPr lang="en-US" sz="1200"/>
                <a:t> → </a:t>
              </a:r>
              <a:r>
                <a:rPr lang="en-US" sz="1200" b="1">
                  <a:solidFill>
                    <a:srgbClr val="F59E0B"/>
                  </a:solidFill>
                </a:rPr>
                <a:t>prune</a:t>
              </a:r>
              <a:r>
                <a:rPr lang="en-US" sz="1200"/>
                <a:t> the state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2563EB"/>
                  </a:solidFill>
                </a:rPr>
                <a:t>Cheap to compute</a:t>
              </a:r>
              <a:r>
                <a:rPr lang="en-US" sz="1200"/>
                <a:t>: </a:t>
              </a:r>
              <a:r>
                <a:rPr lang="en-US" sz="1200" b="1">
                  <a:solidFill>
                    <a:srgbClr val="16A34A"/>
                  </a:solidFill>
                </a:rPr>
                <a:t>O(#boxes)</a:t>
              </a:r>
              <a:r>
                <a:rPr lang="en-US" sz="1200"/>
                <a:t> per evaluation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5B65069-536A-BA6C-C463-93CCBFDE0950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3093688"/>
              <a:ext cx="0" cy="162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9861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Heuristic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7220" y="1465898"/>
            <a:ext cx="2948940" cy="65151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59E0B"/>
                </a:solidFill>
                <a:latin typeface="Barlow Semi Condensed"/>
              </a:rPr>
              <a:t>h(s)</a:t>
            </a:r>
            <a:r>
              <a:rPr sz="1350">
                <a:solidFill>
                  <a:srgbClr val="3D3D3D"/>
                </a:solidFill>
                <a:latin typeface="Barlow Semi Condensed"/>
              </a:rPr>
              <a:t> = </a:t>
            </a:r>
            <a:r>
              <a:rPr sz="1350" b="1">
                <a:solidFill>
                  <a:srgbClr val="2563EB"/>
                </a:solidFill>
                <a:latin typeface="Barlow Semi Condensed"/>
              </a:rPr>
              <a:t># boxes not on a goal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" y="2220278"/>
            <a:ext cx="2948940" cy="65151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125">
                <a:solidFill>
                  <a:srgbClr val="3D3D3D"/>
                </a:solidFill>
                <a:latin typeface="Barlow Semi Condensed"/>
              </a:rPr>
              <a:t>Box stuck in a wall corner</a:t>
            </a:r>
          </a:p>
          <a:p>
            <a:pPr algn="ctr"/>
            <a:r>
              <a:rPr sz="1125">
                <a:solidFill>
                  <a:srgbClr val="3D3D3D"/>
                </a:solidFill>
                <a:latin typeface="Barlow Semi Condensed"/>
              </a:rPr>
              <a:t>&amp; not on goal → </a:t>
            </a:r>
            <a:r>
              <a:rPr sz="1125" b="1">
                <a:solidFill>
                  <a:srgbClr val="F59E0B"/>
                </a:solidFill>
                <a:latin typeface="Barlow Semi Condensed"/>
              </a:rPr>
              <a:t>h(s) = ∞</a:t>
            </a:r>
            <a:r>
              <a:rPr sz="1125">
                <a:solidFill>
                  <a:srgbClr val="3D3D3D"/>
                </a:solidFill>
                <a:latin typeface="Barlow Semi Condensed"/>
              </a:rPr>
              <a:t> (</a:t>
            </a:r>
            <a:r>
              <a:rPr sz="1125" b="1">
                <a:solidFill>
                  <a:srgbClr val="F59E0B"/>
                </a:solidFill>
                <a:latin typeface="Barlow Semi Condensed"/>
              </a:rPr>
              <a:t>prune</a:t>
            </a:r>
            <a:r>
              <a:rPr sz="1125">
                <a:solidFill>
                  <a:srgbClr val="3D3D3D"/>
                </a:solidFill>
                <a:latin typeface="Barlow Semi Condensed"/>
              </a:rPr>
              <a:t>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" y="2974658"/>
            <a:ext cx="2948940" cy="65151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125" b="1">
                <a:solidFill>
                  <a:srgbClr val="16A34A"/>
                </a:solidFill>
                <a:latin typeface="Barlow Semi Condensed"/>
              </a:rPr>
              <a:t>Not Manhattan / Euclidean</a:t>
            </a:r>
          </a:p>
          <a:p>
            <a:pPr algn="ctr"/>
            <a:r>
              <a:rPr sz="1125" b="1">
                <a:solidFill>
                  <a:srgbClr val="F59E0B"/>
                </a:solidFill>
                <a:latin typeface="Barlow Semi Condensed"/>
              </a:rPr>
              <a:t>problem-specific</a:t>
            </a:r>
            <a:r>
              <a:rPr sz="1125">
                <a:solidFill>
                  <a:srgbClr val="3D3D3D"/>
                </a:solidFill>
                <a:latin typeface="Barlow Semi Condensed"/>
              </a:rPr>
              <a:t>, as required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09060" y="1431608"/>
            <a:ext cx="2331720" cy="2057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wrap="square" lIns="54864" tIns="27432" rIns="54864" bIns="27432" rtlCol="0" anchor="ctr"/>
          <a:lstStyle/>
          <a:p>
            <a:pPr algn="l"/>
            <a:r>
              <a:rPr sz="1050" b="1">
                <a:solidFill>
                  <a:srgbClr val="477797"/>
                </a:solidFill>
                <a:latin typeface="Barlow Semi Condensed"/>
              </a:rPr>
              <a:t>Corner deadlock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09060" y="3386138"/>
            <a:ext cx="2331720" cy="4114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The box can never leave the corner → this state is a </a:t>
            </a:r>
            <a:r>
              <a:rPr sz="900" b="1">
                <a:solidFill>
                  <a:srgbClr val="DC2626"/>
                </a:solidFill>
                <a:latin typeface="Barlow Semi Condensed"/>
              </a:rPr>
              <a:t>dead end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F135BF9-74E4-6551-E9B5-B18B538E7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393" y="1836321"/>
            <a:ext cx="1705213" cy="141942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 Pseudocode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7220" y="1465898"/>
            <a:ext cx="2948940" cy="185166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lang="en-US" sz="975" b="1">
                <a:solidFill>
                  <a:srgbClr val="2563EB"/>
                </a:solidFill>
                <a:latin typeface="Consolas"/>
              </a:rPr>
              <a:t>HEURISTIC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(</a:t>
            </a:r>
            <a:r>
              <a:rPr lang="en-US" sz="975">
                <a:solidFill>
                  <a:srgbClr val="0891B2"/>
                </a:solidFill>
                <a:latin typeface="Consolas"/>
              </a:rPr>
              <a:t>state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):</a:t>
            </a:r>
          </a:p>
          <a:p>
            <a:pPr algn="l"/>
            <a:r>
              <a:rPr lang="en-US" sz="975">
                <a:solidFill>
                  <a:srgbClr val="3D3D3D"/>
                </a:solidFill>
                <a:latin typeface="Consolas"/>
              </a:rPr>
              <a:t>  </a:t>
            </a:r>
            <a:r>
              <a:rPr lang="en-US" sz="975">
                <a:solidFill>
                  <a:srgbClr val="0891B2"/>
                </a:solidFill>
                <a:latin typeface="Consolas"/>
              </a:rPr>
              <a:t>count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75" b="1">
                <a:solidFill>
                  <a:srgbClr val="DB2777"/>
                </a:solidFill>
                <a:latin typeface="Consolas"/>
              </a:rPr>
              <a:t>←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75" b="1">
                <a:solidFill>
                  <a:srgbClr val="DB2777"/>
                </a:solidFill>
                <a:latin typeface="Consolas"/>
              </a:rPr>
              <a:t>0</a:t>
            </a:r>
          </a:p>
          <a:p>
            <a:endParaRPr lang="en-US" sz="975">
              <a:latin typeface="Consolas"/>
            </a:endParaRPr>
          </a:p>
          <a:p>
            <a:pPr algn="l"/>
            <a:r>
              <a:rPr lang="en-US" sz="975">
                <a:solidFill>
                  <a:srgbClr val="3D3D3D"/>
                </a:solidFill>
                <a:latin typeface="Consolas"/>
              </a:rPr>
              <a:t>  </a:t>
            </a:r>
            <a:r>
              <a:rPr lang="en-US" sz="975" b="1">
                <a:solidFill>
                  <a:srgbClr val="7C3AED"/>
                </a:solidFill>
                <a:latin typeface="Consolas"/>
              </a:rPr>
              <a:t>for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75" b="1">
                <a:solidFill>
                  <a:srgbClr val="7C3AED"/>
                </a:solidFill>
                <a:latin typeface="Consolas"/>
              </a:rPr>
              <a:t>each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75" b="1">
                <a:solidFill>
                  <a:srgbClr val="F59E0B"/>
                </a:solidFill>
                <a:latin typeface="Consolas"/>
              </a:rPr>
              <a:t>box not on a goal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:</a:t>
            </a:r>
          </a:p>
          <a:p>
            <a:pPr algn="l"/>
            <a:r>
              <a:rPr lang="en-US" sz="975">
                <a:solidFill>
                  <a:srgbClr val="3D3D3D"/>
                </a:solidFill>
                <a:latin typeface="Consolas"/>
              </a:rPr>
              <a:t>    </a:t>
            </a:r>
            <a:r>
              <a:rPr lang="en-US" sz="975" b="1">
                <a:solidFill>
                  <a:srgbClr val="7C3AED"/>
                </a:solidFill>
                <a:latin typeface="Consolas"/>
              </a:rPr>
              <a:t>if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 (</a:t>
            </a:r>
            <a:r>
              <a:rPr lang="en-US" sz="975" b="1">
                <a:solidFill>
                  <a:srgbClr val="F59E0B"/>
                </a:solidFill>
                <a:latin typeface="Consolas"/>
              </a:rPr>
              <a:t>wall above or below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)</a:t>
            </a:r>
          </a:p>
          <a:p>
            <a:pPr algn="l"/>
            <a:r>
              <a:rPr lang="en-US" sz="975">
                <a:solidFill>
                  <a:srgbClr val="3D3D3D"/>
                </a:solidFill>
                <a:latin typeface="Consolas"/>
              </a:rPr>
              <a:t>       </a:t>
            </a:r>
            <a:r>
              <a:rPr lang="en-US" sz="975" b="1">
                <a:solidFill>
                  <a:srgbClr val="2563EB"/>
                </a:solidFill>
                <a:latin typeface="Consolas"/>
              </a:rPr>
              <a:t>AND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 (</a:t>
            </a:r>
            <a:r>
              <a:rPr lang="en-US" sz="975" b="1">
                <a:solidFill>
                  <a:srgbClr val="F59E0B"/>
                </a:solidFill>
                <a:latin typeface="Consolas"/>
              </a:rPr>
              <a:t>wall left or right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):</a:t>
            </a:r>
          </a:p>
          <a:p>
            <a:pPr algn="l"/>
            <a:r>
              <a:rPr lang="en-US" sz="975">
                <a:solidFill>
                  <a:srgbClr val="3D3D3D"/>
                </a:solidFill>
                <a:latin typeface="Consolas"/>
              </a:rPr>
              <a:t>      </a:t>
            </a:r>
            <a:r>
              <a:rPr lang="en-US" sz="975" b="1">
                <a:solidFill>
                  <a:srgbClr val="DC2626"/>
                </a:solidFill>
                <a:latin typeface="Consolas"/>
              </a:rPr>
              <a:t>return ∞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   </a:t>
            </a:r>
            <a:r>
              <a:rPr lang="en-US" sz="975" i="1">
                <a:solidFill>
                  <a:srgbClr val="9CA3AF"/>
                </a:solidFill>
                <a:latin typeface="Consolas"/>
              </a:rPr>
              <a:t>// dead corner</a:t>
            </a:r>
          </a:p>
          <a:p>
            <a:endParaRPr lang="en-US" sz="975">
              <a:latin typeface="Consolas"/>
            </a:endParaRPr>
          </a:p>
          <a:p>
            <a:pPr algn="l"/>
            <a:r>
              <a:rPr lang="en-US" sz="975">
                <a:solidFill>
                  <a:srgbClr val="3D3D3D"/>
                </a:solidFill>
                <a:latin typeface="Consolas"/>
              </a:rPr>
              <a:t>    </a:t>
            </a:r>
            <a:r>
              <a:rPr lang="en-US" sz="975" b="1">
                <a:solidFill>
                  <a:srgbClr val="2563EB"/>
                </a:solidFill>
                <a:latin typeface="Consolas"/>
              </a:rPr>
              <a:t>count ← count + 1</a:t>
            </a:r>
          </a:p>
          <a:p>
            <a:endParaRPr lang="en-US" sz="975">
              <a:latin typeface="Consolas"/>
            </a:endParaRPr>
          </a:p>
          <a:p>
            <a:pPr algn="l"/>
            <a:r>
              <a:rPr lang="en-US" sz="975">
                <a:solidFill>
                  <a:srgbClr val="3D3D3D"/>
                </a:solidFill>
                <a:latin typeface="Consolas"/>
              </a:rPr>
              <a:t>  </a:t>
            </a:r>
            <a:r>
              <a:rPr lang="en-US" sz="975" b="1">
                <a:solidFill>
                  <a:srgbClr val="16A34A"/>
                </a:solidFill>
                <a:latin typeface="Consolas"/>
              </a:rPr>
              <a:t>return count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" y="3454717"/>
            <a:ext cx="2948940" cy="48006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3D3D3D"/>
                </a:solidFill>
                <a:latin typeface="Barlow Semi Condensed"/>
              </a:rPr>
              <a:t>Cost: </a:t>
            </a:r>
            <a:r>
              <a:rPr sz="1050" b="1">
                <a:solidFill>
                  <a:srgbClr val="2563EB"/>
                </a:solidFill>
                <a:latin typeface="Barlow Semi Condensed"/>
              </a:rPr>
              <a:t>O(#boxes)</a:t>
            </a:r>
            <a:r>
              <a:rPr sz="1050">
                <a:solidFill>
                  <a:srgbClr val="3D3D3D"/>
                </a:solidFill>
                <a:latin typeface="Barlow Semi Condensed"/>
              </a:rPr>
              <a:t> per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37610" y="1465898"/>
            <a:ext cx="2503170" cy="8983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050" b="1">
                <a:solidFill>
                  <a:srgbClr val="16A34A"/>
                </a:solidFill>
                <a:latin typeface="Barlow Semi Condensed"/>
              </a:rPr>
              <a:t>Pros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 b="1">
                <a:solidFill>
                  <a:srgbClr val="2563EB"/>
                </a:solidFill>
                <a:latin typeface="Barlow Semi Condensed"/>
              </a:rPr>
              <a:t>Cheap to compute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Prunes dead states early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Admissible &amp; </a:t>
            </a:r>
            <a:r>
              <a:rPr sz="900" b="1">
                <a:solidFill>
                  <a:srgbClr val="16A34A"/>
                </a:solidFill>
                <a:latin typeface="Barlow Semi Condensed"/>
              </a:rPr>
              <a:t>consistent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 (RQ4)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7610" y="2432876"/>
            <a:ext cx="250317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050" b="1">
                <a:solidFill>
                  <a:srgbClr val="F59E0B"/>
                </a:solidFill>
                <a:latin typeface="Barlow Semi Condensed"/>
              </a:rPr>
              <a:t>Cons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Coarse: ignores distances &amp; agent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Misses tunnel / freeze </a:t>
            </a:r>
            <a:r>
              <a:rPr sz="900" b="1">
                <a:solidFill>
                  <a:srgbClr val="DC2626"/>
                </a:solidFill>
                <a:latin typeface="Barlow Semi Condensed"/>
              </a:rPr>
              <a:t>deadlocks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112F59C9-7F04-92A7-D013-7266A5ED5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2EBC86CE-2AA8-1176-D642-4B9589B51E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768" y="2420199"/>
            <a:ext cx="4956464" cy="6034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/>
            <a:r>
              <a:rPr lang="en-US" sz="2400"/>
              <a:t>RQ3: Time &amp; Space Complexity Analysis</a:t>
            </a:r>
            <a:endParaRPr lang="vi-VN" sz="2400"/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48445876-4D6E-52E2-AF32-F63B6083628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28850" y="1513904"/>
            <a:ext cx="2225700" cy="8023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/>
              <a:t>06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50770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>
          <a:extLst>
            <a:ext uri="{FF2B5EF4-FFF2-40B4-BE49-F238E27FC236}">
              <a16:creationId xmlns:a16="http://schemas.microsoft.com/office/drawing/2014/main" id="{D0BBDDB6-0822-227E-338E-62C4A138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40">
            <a:extLst>
              <a:ext uri="{FF2B5EF4-FFF2-40B4-BE49-F238E27FC236}">
                <a16:creationId xmlns:a16="http://schemas.microsoft.com/office/drawing/2014/main" id="{A195821F-0CF6-D7C6-04AE-D978B7B5B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5000" y="453338"/>
            <a:ext cx="4908000" cy="4457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lvl="0"/>
            <a:r>
              <a:rPr lang="en-US"/>
              <a:t>RQ3: Approach &amp; Solution</a:t>
            </a:r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A01B12-1A6B-1237-449A-ADA7D9FD6F6F}"/>
              </a:ext>
            </a:extLst>
          </p:cNvPr>
          <p:cNvGrpSpPr/>
          <p:nvPr/>
        </p:nvGrpSpPr>
        <p:grpSpPr>
          <a:xfrm>
            <a:off x="772212" y="1272455"/>
            <a:ext cx="5212500" cy="1275509"/>
            <a:chOff x="871922" y="3063010"/>
            <a:chExt cx="6950000" cy="1700678"/>
          </a:xfrm>
        </p:grpSpPr>
        <p:sp>
          <p:nvSpPr>
            <p:cNvPr id="12" name="Google Shape;2197;p40">
              <a:extLst>
                <a:ext uri="{FF2B5EF4-FFF2-40B4-BE49-F238E27FC236}">
                  <a16:creationId xmlns:a16="http://schemas.microsoft.com/office/drawing/2014/main" id="{2519E34C-2BCC-CFB5-6059-53A3EA6D7086}"/>
                </a:ext>
              </a:extLst>
            </p:cNvPr>
            <p:cNvSpPr txBox="1">
              <a:spLocks/>
            </p:cNvSpPr>
            <p:nvPr/>
          </p:nvSpPr>
          <p:spPr>
            <a:xfrm>
              <a:off x="871922" y="3063010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How did we approach it?</a:t>
              </a:r>
            </a:p>
          </p:txBody>
        </p:sp>
        <p:sp>
          <p:nvSpPr>
            <p:cNvPr id="16" name="Google Shape;2200;p40">
              <a:extLst>
                <a:ext uri="{FF2B5EF4-FFF2-40B4-BE49-F238E27FC236}">
                  <a16:creationId xmlns:a16="http://schemas.microsoft.com/office/drawing/2014/main" id="{8F754E9E-BE80-F964-29F2-4E14004B8AE8}"/>
                </a:ext>
              </a:extLst>
            </p:cNvPr>
            <p:cNvSpPr txBox="1">
              <a:spLocks/>
            </p:cNvSpPr>
            <p:nvPr/>
          </p:nvSpPr>
          <p:spPr>
            <a:xfrm>
              <a:off x="923683" y="3443010"/>
              <a:ext cx="6778171" cy="13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/>
                <a:t>Run </a:t>
              </a:r>
              <a:r>
                <a:rPr lang="en-US" sz="1200" b="1"/>
                <a:t>UCS and A* on the same map</a:t>
              </a:r>
              <a:r>
                <a:rPr lang="en-US" sz="1200"/>
                <a:t> and compare them on </a:t>
              </a:r>
              <a:r>
                <a:rPr lang="en-US" sz="1200" b="1">
                  <a:solidFill>
                    <a:srgbClr val="7C3AED"/>
                  </a:solidFill>
                </a:rPr>
                <a:t>four metrics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2563EB"/>
                  </a:solidFill>
                </a:rPr>
                <a:t>Metrics</a:t>
              </a:r>
              <a:r>
                <a:rPr lang="en-US" sz="1200"/>
                <a:t>: time, memory, </a:t>
              </a:r>
              <a:r>
                <a:rPr lang="en-US" sz="1200" b="1">
                  <a:solidFill>
                    <a:srgbClr val="7C3AED"/>
                  </a:solidFill>
                </a:rPr>
                <a:t>nodes expanded</a:t>
              </a:r>
              <a:r>
                <a:rPr lang="en-US" sz="1200"/>
                <a:t>, </a:t>
              </a:r>
              <a:r>
                <a:rPr lang="en-US" sz="1200" b="1">
                  <a:solidFill>
                    <a:srgbClr val="7C3AED"/>
                  </a:solidFill>
                </a:rPr>
                <a:t>max frontier size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3E787B8-0783-0F40-9C8E-24FD9D19C04C}"/>
                </a:ext>
              </a:extLst>
            </p:cNvPr>
            <p:cNvCxnSpPr>
              <a:cxnSpLocks/>
            </p:cNvCxnSpPr>
            <p:nvPr/>
          </p:nvCxnSpPr>
          <p:spPr>
            <a:xfrm>
              <a:off x="923683" y="3093688"/>
              <a:ext cx="0" cy="167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E187A36-75A9-3551-39CF-2B0F3C7AD849}"/>
              </a:ext>
            </a:extLst>
          </p:cNvPr>
          <p:cNvGrpSpPr/>
          <p:nvPr/>
        </p:nvGrpSpPr>
        <p:grpSpPr>
          <a:xfrm>
            <a:off x="773109" y="2727938"/>
            <a:ext cx="5212500" cy="1237500"/>
            <a:chOff x="4522157" y="3063010"/>
            <a:chExt cx="6950000" cy="1650000"/>
          </a:xfrm>
        </p:grpSpPr>
        <p:sp>
          <p:nvSpPr>
            <p:cNvPr id="15" name="Google Shape;2197;p40">
              <a:extLst>
                <a:ext uri="{FF2B5EF4-FFF2-40B4-BE49-F238E27FC236}">
                  <a16:creationId xmlns:a16="http://schemas.microsoft.com/office/drawing/2014/main" id="{04700355-F394-78DA-A7FA-53B2B63B0674}"/>
                </a:ext>
              </a:extLst>
            </p:cNvPr>
            <p:cNvSpPr txBox="1">
              <a:spLocks/>
            </p:cNvSpPr>
            <p:nvPr/>
          </p:nvSpPr>
          <p:spPr>
            <a:xfrm>
              <a:off x="4522157" y="3063010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What solution did we implement?</a:t>
              </a:r>
            </a:p>
          </p:txBody>
        </p:sp>
        <p:sp>
          <p:nvSpPr>
            <p:cNvPr id="23" name="Google Shape;2200;p40">
              <a:extLst>
                <a:ext uri="{FF2B5EF4-FFF2-40B4-BE49-F238E27FC236}">
                  <a16:creationId xmlns:a16="http://schemas.microsoft.com/office/drawing/2014/main" id="{AED6E220-52E9-EC65-7A4B-9BAF4DF3D748}"/>
                </a:ext>
              </a:extLst>
            </p:cNvPr>
            <p:cNvSpPr txBox="1">
              <a:spLocks/>
            </p:cNvSpPr>
            <p:nvPr/>
          </p:nvSpPr>
          <p:spPr>
            <a:xfrm>
              <a:off x="4572000" y="3443010"/>
              <a:ext cx="6900157" cy="1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2563EB"/>
                  </a:solidFill>
                </a:rPr>
                <a:t>Runtime</a:t>
              </a:r>
              <a:r>
                <a:rPr lang="en-US" sz="1200"/>
                <a:t> = </a:t>
              </a:r>
              <a:r>
                <a:rPr lang="en-US" sz="1200" b="1">
                  <a:solidFill>
                    <a:srgbClr val="2563EB"/>
                  </a:solidFill>
                </a:rPr>
                <a:t>mean of 5 runs</a:t>
              </a:r>
              <a:r>
                <a:rPr lang="en-US" sz="1200"/>
                <a:t>; </a:t>
              </a:r>
              <a:r>
                <a:rPr lang="en-US" sz="1200" b="1">
                  <a:solidFill>
                    <a:srgbClr val="7C3AED"/>
                  </a:solidFill>
                </a:rPr>
                <a:t>peak memory</a:t>
              </a:r>
              <a:r>
                <a:rPr lang="en-US" sz="1200"/>
                <a:t> measured with </a:t>
              </a:r>
              <a:r>
                <a:rPr lang="en-US" sz="1050" b="1">
                  <a:solidFill>
                    <a:srgbClr val="4B5563"/>
                  </a:solidFill>
                  <a:latin typeface="Consolas"/>
                </a:rPr>
                <a:t>tracemalloc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/>
                <a:t>Nodes and frontier are counted inside the search; results saved to </a:t>
              </a:r>
              <a:r>
                <a:rPr lang="en-US" sz="1200" b="1">
                  <a:solidFill>
                    <a:srgbClr val="7C3AED"/>
                  </a:solidFill>
                </a:rPr>
                <a:t>CSV</a:t>
              </a:r>
              <a:r>
                <a:rPr lang="en-US" sz="1200"/>
                <a:t> and bar charts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2563EB"/>
                  </a:solidFill>
                </a:rPr>
                <a:t>Result</a:t>
              </a:r>
              <a:r>
                <a:rPr lang="en-US" sz="1200"/>
                <a:t>: </a:t>
              </a:r>
              <a:r>
                <a:rPr lang="en-US" sz="1200" b="1">
                  <a:solidFill>
                    <a:srgbClr val="16A34A"/>
                  </a:solidFill>
                </a:rPr>
                <a:t>A*</a:t>
              </a:r>
              <a:r>
                <a:rPr lang="en-US" sz="1200"/>
                <a:t> is </a:t>
              </a:r>
              <a:r>
                <a:rPr lang="en-US" sz="1200" b="1">
                  <a:solidFill>
                    <a:srgbClr val="16A34A"/>
                  </a:solidFill>
                </a:rPr>
                <a:t>38× faster</a:t>
              </a:r>
              <a:r>
                <a:rPr lang="en-US" sz="1200"/>
                <a:t>, </a:t>
              </a:r>
              <a:r>
                <a:rPr lang="en-US" sz="1200" b="1">
                  <a:solidFill>
                    <a:srgbClr val="16A34A"/>
                  </a:solidFill>
                </a:rPr>
                <a:t>28× fewer nodes</a:t>
              </a:r>
              <a:r>
                <a:rPr lang="en-US" sz="1200"/>
                <a:t>, </a:t>
              </a:r>
              <a:r>
                <a:rPr lang="vi-VN" sz="1200"/>
                <a:t>28</a:t>
              </a:r>
              <a:r>
                <a:rPr lang="en-US" sz="1200"/>
                <a:t>× less memory, </a:t>
              </a:r>
              <a:r>
                <a:rPr lang="en-US" sz="1200" b="1">
                  <a:solidFill>
                    <a:srgbClr val="16A34A"/>
                  </a:solidFill>
                </a:rPr>
                <a:t>same cost 34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5B65069-536A-BA6C-C463-93CCBFDE0950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3093688"/>
              <a:ext cx="0" cy="162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9861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Design &amp;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7220" y="2304097"/>
            <a:ext cx="960120" cy="58293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Input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77340" y="2592133"/>
            <a:ext cx="205740" cy="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5" name="Rounded Rectangle 4"/>
          <p:cNvSpPr/>
          <p:nvPr/>
        </p:nvSpPr>
        <p:spPr>
          <a:xfrm>
            <a:off x="1783080" y="2304097"/>
            <a:ext cx="960120" cy="58293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 b="1">
                <a:solidFill>
                  <a:srgbClr val="3D3D3D"/>
                </a:solidFill>
                <a:latin typeface="Barlow Semi Condensed"/>
              </a:rPr>
              <a:t>Sokoban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 problem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2592133"/>
            <a:ext cx="205740" cy="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7" name="Rounded Rectangle 6"/>
          <p:cNvSpPr/>
          <p:nvPr/>
        </p:nvSpPr>
        <p:spPr>
          <a:xfrm>
            <a:off x="2948940" y="2304097"/>
            <a:ext cx="960120" cy="58293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Run </a:t>
            </a:r>
            <a:r>
              <a:rPr sz="975" b="1">
                <a:solidFill>
                  <a:srgbClr val="2563EB"/>
                </a:solidFill>
                <a:latin typeface="Barlow Semi Condensed"/>
              </a:rPr>
              <a:t>UCS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 / </a:t>
            </a:r>
            <a:r>
              <a:rPr sz="975" b="1">
                <a:solidFill>
                  <a:srgbClr val="16A34A"/>
                </a:solidFill>
                <a:latin typeface="Barlow Semi Condensed"/>
              </a:rPr>
              <a:t>A*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09060" y="2592133"/>
            <a:ext cx="205741" cy="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9" name="Rounded Rectangle 8"/>
          <p:cNvSpPr/>
          <p:nvPr/>
        </p:nvSpPr>
        <p:spPr>
          <a:xfrm>
            <a:off x="4114800" y="2304097"/>
            <a:ext cx="960120" cy="58293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Measure</a:t>
            </a:r>
          </a:p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time · memory · nodes · frontier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74920" y="2592133"/>
            <a:ext cx="205740" cy="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1" name="Rounded Rectangle 10"/>
          <p:cNvSpPr/>
          <p:nvPr/>
        </p:nvSpPr>
        <p:spPr>
          <a:xfrm>
            <a:off x="5280660" y="2304097"/>
            <a:ext cx="960120" cy="58293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 b="1">
                <a:solidFill>
                  <a:srgbClr val="7C3AED"/>
                </a:solidFill>
                <a:latin typeface="Barlow Semi Condensed"/>
              </a:rPr>
              <a:t>CSV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 + 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" y="3058477"/>
            <a:ext cx="178308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2550" b="1">
                <a:solidFill>
                  <a:srgbClr val="2563EB"/>
                </a:solidFill>
                <a:latin typeface="Barlow Semi Condensed"/>
              </a:rPr>
              <a:t>38×</a:t>
            </a:r>
          </a:p>
          <a:p>
            <a:pPr algn="ctr"/>
            <a:r>
              <a:rPr sz="1050" b="1">
                <a:solidFill>
                  <a:srgbClr val="3D3D3D"/>
                </a:solidFill>
                <a:latin typeface="Barlow Semi Condensed"/>
              </a:rPr>
              <a:t>faster</a:t>
            </a:r>
          </a:p>
          <a:p>
            <a:pPr algn="ctr"/>
            <a:r>
              <a:rPr sz="1050">
                <a:solidFill>
                  <a:srgbClr val="477797"/>
                </a:solidFill>
                <a:latin typeface="Barlow Semi Condensed"/>
              </a:rPr>
              <a:t>29.0 s → 0.76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7459" y="3058477"/>
            <a:ext cx="178308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lang="vi-VN" sz="2550" b="1">
                <a:solidFill>
                  <a:srgbClr val="16A34A"/>
                </a:solidFill>
                <a:latin typeface="Barlow Semi Condensed"/>
              </a:rPr>
              <a:t>28</a:t>
            </a:r>
            <a:r>
              <a:rPr sz="2550" b="1">
                <a:solidFill>
                  <a:srgbClr val="16A34A"/>
                </a:solidFill>
                <a:latin typeface="Barlow Semi Condensed"/>
              </a:rPr>
              <a:t>×</a:t>
            </a:r>
          </a:p>
          <a:p>
            <a:pPr algn="ctr"/>
            <a:r>
              <a:rPr sz="1050" b="1">
                <a:solidFill>
                  <a:srgbClr val="3D3D3D"/>
                </a:solidFill>
                <a:latin typeface="Barlow Semi Condensed"/>
              </a:rPr>
              <a:t>fewer nodes</a:t>
            </a:r>
          </a:p>
          <a:p>
            <a:pPr algn="ctr"/>
            <a:r>
              <a:rPr sz="1050">
                <a:solidFill>
                  <a:srgbClr val="477797"/>
                </a:solidFill>
                <a:latin typeface="Barlow Semi Condensed"/>
              </a:rPr>
              <a:t>485k → 17.6k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7700" y="3058477"/>
            <a:ext cx="178308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2550" b="1">
                <a:solidFill>
                  <a:srgbClr val="F59E0B"/>
                </a:solidFill>
                <a:latin typeface="Barlow Semi Condensed"/>
              </a:rPr>
              <a:t>27×</a:t>
            </a:r>
          </a:p>
          <a:p>
            <a:pPr algn="ctr"/>
            <a:r>
              <a:rPr sz="1050" b="1">
                <a:solidFill>
                  <a:srgbClr val="3D3D3D"/>
                </a:solidFill>
                <a:latin typeface="Barlow Semi Condensed"/>
              </a:rPr>
              <a:t>less memory</a:t>
            </a:r>
          </a:p>
          <a:p>
            <a:pPr algn="ctr"/>
            <a:r>
              <a:rPr sz="1050">
                <a:solidFill>
                  <a:srgbClr val="477797"/>
                </a:solidFill>
                <a:latin typeface="Barlow Semi Condensed"/>
              </a:rPr>
              <a:t>1.5 GB → 57 MB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" y="4258627"/>
            <a:ext cx="5486400" cy="41148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 b="1">
                <a:solidFill>
                  <a:srgbClr val="16A34A"/>
                </a:solidFill>
                <a:latin typeface="Barlow Semi Condensed"/>
              </a:rPr>
              <a:t>Both found cost = 34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 → </a:t>
            </a:r>
            <a:r>
              <a:rPr sz="975" b="1">
                <a:solidFill>
                  <a:srgbClr val="16A34A"/>
                </a:solidFill>
                <a:latin typeface="Barlow Semi Condensed"/>
              </a:rPr>
              <a:t>A*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 stays </a:t>
            </a:r>
            <a:r>
              <a:rPr sz="975" b="1">
                <a:solidFill>
                  <a:srgbClr val="16A34A"/>
                </a:solidFill>
                <a:latin typeface="Barlow Semi Condensed"/>
              </a:rPr>
              <a:t>optimal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.  </a:t>
            </a:r>
            <a:r>
              <a:rPr sz="975" b="1">
                <a:solidFill>
                  <a:srgbClr val="2563EB"/>
                </a:solidFill>
                <a:latin typeface="Barlow Semi Condensed"/>
              </a:rPr>
              <a:t>Runtime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 = mean of </a:t>
            </a:r>
            <a:r>
              <a:rPr sz="975" b="1">
                <a:solidFill>
                  <a:srgbClr val="7C3AED"/>
                </a:solidFill>
                <a:latin typeface="Barlow Semi Condensed"/>
              </a:rPr>
              <a:t>5 runs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, memory via </a:t>
            </a:r>
            <a:r>
              <a:rPr sz="975" b="1">
                <a:solidFill>
                  <a:srgbClr val="7C3AED"/>
                </a:solidFill>
                <a:latin typeface="Barlow Semi Condensed"/>
              </a:rPr>
              <a:t>tracemalloc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4A66B39-8CBD-4CAA-1316-D4194D487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696356"/>
              </p:ext>
            </p:extLst>
          </p:nvPr>
        </p:nvGraphicFramePr>
        <p:xfrm>
          <a:off x="721995" y="934142"/>
          <a:ext cx="5276850" cy="1202055"/>
        </p:xfrm>
        <a:graphic>
          <a:graphicData uri="http://schemas.openxmlformats.org/drawingml/2006/table">
            <a:tbl>
              <a:tblPr>
                <a:tableStyleId>{DC089D49-F0A7-471C-B574-B244DF5394D3}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03069996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729615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784918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28403696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026336787"/>
                    </a:ext>
                  </a:extLst>
                </a:gridCol>
                <a:gridCol w="444385">
                  <a:extLst>
                    <a:ext uri="{9D8B030D-6E8A-4147-A177-3AD203B41FA5}">
                      <a16:colId xmlns:a16="http://schemas.microsoft.com/office/drawing/2014/main" val="10484393"/>
                    </a:ext>
                  </a:extLst>
                </a:gridCol>
                <a:gridCol w="774815">
                  <a:extLst>
                    <a:ext uri="{9D8B030D-6E8A-4147-A177-3AD203B41FA5}">
                      <a16:colId xmlns:a16="http://schemas.microsoft.com/office/drawing/2014/main" val="21469166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234178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0863419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map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77C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algorithm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77C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solved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77C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cost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77C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depth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77C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nodes_expanded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77C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max_frontier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77C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time_sec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77C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memory_kb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77C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061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example_map.txt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2563EB"/>
                          </a:solidFill>
                          <a:effectLst/>
                          <a:latin typeface="Barlow Semi Condensed Medium" panose="00000606000000000000" pitchFamily="2" charset="0"/>
                        </a:rPr>
                        <a:t>UCS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16A34A"/>
                          </a:solidFill>
                          <a:effectLst/>
                          <a:latin typeface="Barlow Semi Condensed Medium" panose="00000606000000000000" pitchFamily="2" charset="0"/>
                        </a:rPr>
                        <a:t>TRUE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485183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145563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29.0319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1534447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85071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example_map.txt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16A34A"/>
                          </a:solidFill>
                          <a:effectLst/>
                          <a:latin typeface="Barlow Semi Condensed Medium" panose="00000606000000000000" pitchFamily="2" charset="0"/>
                        </a:rPr>
                        <a:t>A*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16A34A"/>
                          </a:solidFill>
                          <a:effectLst/>
                          <a:latin typeface="Barlow Semi Condensed Medium" panose="00000606000000000000" pitchFamily="2" charset="0"/>
                        </a:rPr>
                        <a:t>TRUE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17640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5230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0.7615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56728.45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56111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Experiment: Pros &amp; Cons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7721" y="1621398"/>
            <a:ext cx="2078275" cy="8983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050" b="1">
                <a:solidFill>
                  <a:srgbClr val="16A34A"/>
                </a:solidFill>
                <a:latin typeface="Barlow Semi Condensed"/>
              </a:rPr>
              <a:t>Pros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 b="1">
                <a:solidFill>
                  <a:srgbClr val="7C3AED"/>
                </a:solidFill>
                <a:latin typeface="Barlow Semi Condensed"/>
              </a:rPr>
              <a:t>4 metrics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: time, memory, nodes, frontier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Runtime averaged over </a:t>
            </a:r>
            <a:r>
              <a:rPr sz="900" b="1">
                <a:solidFill>
                  <a:srgbClr val="7C3AED"/>
                </a:solidFill>
                <a:latin typeface="Barlow Semi Condensed"/>
              </a:rPr>
              <a:t>5 runs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Results saved to </a:t>
            </a:r>
            <a:r>
              <a:rPr sz="900" b="1">
                <a:solidFill>
                  <a:srgbClr val="7C3AED"/>
                </a:solidFill>
                <a:latin typeface="Barlow Semi Condensed"/>
              </a:rPr>
              <a:t>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7721" y="2778270"/>
            <a:ext cx="2078275" cy="8983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050" b="1">
                <a:solidFill>
                  <a:srgbClr val="F59E0B"/>
                </a:solidFill>
                <a:latin typeface="Barlow Semi Condensed"/>
              </a:rPr>
              <a:t>Cons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Only </a:t>
            </a:r>
            <a:r>
              <a:rPr sz="900" b="1">
                <a:solidFill>
                  <a:srgbClr val="7C3AED"/>
                </a:solidFill>
                <a:latin typeface="Barlow Semi Condensed"/>
              </a:rPr>
              <a:t>1 map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 tested so far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Ratios may differ on other maps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Worst case still </a:t>
            </a:r>
            <a:r>
              <a:rPr sz="900" b="1">
                <a:solidFill>
                  <a:srgbClr val="DC2626"/>
                </a:solidFill>
                <a:latin typeface="Barlow Semi Condensed"/>
              </a:rPr>
              <a:t>exponential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2B655F-9C64-D34E-FE8D-9C00D66C1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92" y="1342409"/>
            <a:ext cx="3369609" cy="29632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1E538D56-089A-36CF-AB06-EE886C1E5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A72D8FD5-F082-A583-AAC8-08DD1DF5BB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768" y="2420199"/>
            <a:ext cx="4956464" cy="6034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/>
            <a:r>
              <a:rPr lang="en-US" sz="2400"/>
              <a:t>RQ4: Heuristic Properties</a:t>
            </a:r>
            <a:br>
              <a:rPr lang="vi-VN" sz="2400"/>
            </a:br>
            <a:r>
              <a:rPr lang="en-US" sz="2400"/>
              <a:t>Admissibility &amp; Consistency</a:t>
            </a:r>
            <a:endParaRPr lang="vi-VN" sz="2400"/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FF2C1763-0C70-D4EA-AA7F-BDE38ECB3C7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28850" y="1513904"/>
            <a:ext cx="2225700" cy="8023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/>
              <a:t>07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47953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>
          <a:extLst>
            <a:ext uri="{FF2B5EF4-FFF2-40B4-BE49-F238E27FC236}">
              <a16:creationId xmlns:a16="http://schemas.microsoft.com/office/drawing/2014/main" id="{D0BBDDB6-0822-227E-338E-62C4A138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40">
            <a:extLst>
              <a:ext uri="{FF2B5EF4-FFF2-40B4-BE49-F238E27FC236}">
                <a16:creationId xmlns:a16="http://schemas.microsoft.com/office/drawing/2014/main" id="{A195821F-0CF6-D7C6-04AE-D978B7B5B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5000" y="536466"/>
            <a:ext cx="4908000" cy="4457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lvl="0"/>
            <a:r>
              <a:rPr lang="en-US"/>
              <a:t>RQ4: Approach &amp; Solution</a:t>
            </a:r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A01B12-1A6B-1237-449A-ADA7D9FD6F6F}"/>
              </a:ext>
            </a:extLst>
          </p:cNvPr>
          <p:cNvGrpSpPr/>
          <p:nvPr/>
        </p:nvGrpSpPr>
        <p:grpSpPr>
          <a:xfrm>
            <a:off x="811034" y="1272455"/>
            <a:ext cx="5263738" cy="1275509"/>
            <a:chOff x="923683" y="3063010"/>
            <a:chExt cx="7018316" cy="1700678"/>
          </a:xfrm>
        </p:grpSpPr>
        <p:sp>
          <p:nvSpPr>
            <p:cNvPr id="12" name="Google Shape;2197;p40">
              <a:extLst>
                <a:ext uri="{FF2B5EF4-FFF2-40B4-BE49-F238E27FC236}">
                  <a16:creationId xmlns:a16="http://schemas.microsoft.com/office/drawing/2014/main" id="{2519E34C-2BCC-CFB5-6059-53A3EA6D7086}"/>
                </a:ext>
              </a:extLst>
            </p:cNvPr>
            <p:cNvSpPr txBox="1">
              <a:spLocks/>
            </p:cNvSpPr>
            <p:nvPr/>
          </p:nvSpPr>
          <p:spPr>
            <a:xfrm>
              <a:off x="991999" y="3063010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How did we approach it?</a:t>
              </a:r>
            </a:p>
          </p:txBody>
        </p:sp>
        <p:sp>
          <p:nvSpPr>
            <p:cNvPr id="16" name="Google Shape;2200;p40">
              <a:extLst>
                <a:ext uri="{FF2B5EF4-FFF2-40B4-BE49-F238E27FC236}">
                  <a16:creationId xmlns:a16="http://schemas.microsoft.com/office/drawing/2014/main" id="{8F754E9E-BE80-F964-29F2-4E14004B8AE8}"/>
                </a:ext>
              </a:extLst>
            </p:cNvPr>
            <p:cNvSpPr txBox="1">
              <a:spLocks/>
            </p:cNvSpPr>
            <p:nvPr/>
          </p:nvSpPr>
          <p:spPr>
            <a:xfrm>
              <a:off x="923683" y="3443010"/>
              <a:ext cx="6778171" cy="13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/>
                <a:t>Prove</a:t>
              </a:r>
              <a:r>
                <a:rPr lang="en-US" sz="1200"/>
                <a:t> the </a:t>
              </a:r>
              <a:r>
                <a:rPr lang="en-US" sz="1200" b="1">
                  <a:solidFill>
                    <a:srgbClr val="F59E0B"/>
                  </a:solidFill>
                </a:rPr>
                <a:t>heuristic</a:t>
              </a:r>
              <a:r>
                <a:rPr lang="en-US" sz="1200"/>
                <a:t> is </a:t>
              </a:r>
              <a:r>
                <a:rPr lang="en-US" sz="1200" b="1">
                  <a:solidFill>
                    <a:srgbClr val="16A34A"/>
                  </a:solidFill>
                </a:rPr>
                <a:t>admissible</a:t>
              </a:r>
              <a:r>
                <a:rPr lang="en-US" sz="1200"/>
                <a:t> and </a:t>
              </a:r>
              <a:r>
                <a:rPr lang="en-US" sz="1200" b="1">
                  <a:solidFill>
                    <a:srgbClr val="16A34A"/>
                  </a:solidFill>
                </a:rPr>
                <a:t>consistent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/>
                <a:t>Then </a:t>
              </a:r>
              <a:r>
                <a:rPr lang="en-US" sz="1200" b="1"/>
                <a:t>verify by experiment</a:t>
              </a:r>
              <a:r>
                <a:rPr lang="en-US" sz="1200"/>
                <a:t> on sampled reachable states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3E787B8-0783-0F40-9C8E-24FD9D19C04C}"/>
                </a:ext>
              </a:extLst>
            </p:cNvPr>
            <p:cNvCxnSpPr>
              <a:cxnSpLocks/>
            </p:cNvCxnSpPr>
            <p:nvPr/>
          </p:nvCxnSpPr>
          <p:spPr>
            <a:xfrm>
              <a:off x="923683" y="3093688"/>
              <a:ext cx="0" cy="167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E187A36-75A9-3551-39CF-2B0F3C7AD849}"/>
              </a:ext>
            </a:extLst>
          </p:cNvPr>
          <p:cNvGrpSpPr/>
          <p:nvPr/>
        </p:nvGrpSpPr>
        <p:grpSpPr>
          <a:xfrm>
            <a:off x="773109" y="2727938"/>
            <a:ext cx="5212500" cy="1237500"/>
            <a:chOff x="4522157" y="3063010"/>
            <a:chExt cx="6950000" cy="1650000"/>
          </a:xfrm>
        </p:grpSpPr>
        <p:sp>
          <p:nvSpPr>
            <p:cNvPr id="15" name="Google Shape;2197;p40">
              <a:extLst>
                <a:ext uri="{FF2B5EF4-FFF2-40B4-BE49-F238E27FC236}">
                  <a16:creationId xmlns:a16="http://schemas.microsoft.com/office/drawing/2014/main" id="{04700355-F394-78DA-A7FA-53B2B63B0674}"/>
                </a:ext>
              </a:extLst>
            </p:cNvPr>
            <p:cNvSpPr txBox="1">
              <a:spLocks/>
            </p:cNvSpPr>
            <p:nvPr/>
          </p:nvSpPr>
          <p:spPr>
            <a:xfrm>
              <a:off x="4522157" y="3063010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What solution did we implement?</a:t>
              </a:r>
            </a:p>
          </p:txBody>
        </p:sp>
        <p:sp>
          <p:nvSpPr>
            <p:cNvPr id="23" name="Google Shape;2200;p40">
              <a:extLst>
                <a:ext uri="{FF2B5EF4-FFF2-40B4-BE49-F238E27FC236}">
                  <a16:creationId xmlns:a16="http://schemas.microsoft.com/office/drawing/2014/main" id="{AED6E220-52E9-EC65-7A4B-9BAF4DF3D748}"/>
                </a:ext>
              </a:extLst>
            </p:cNvPr>
            <p:cNvSpPr txBox="1">
              <a:spLocks/>
            </p:cNvSpPr>
            <p:nvPr/>
          </p:nvSpPr>
          <p:spPr>
            <a:xfrm>
              <a:off x="4572000" y="3443010"/>
              <a:ext cx="6900157" cy="1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2563EB"/>
                  </a:solidFill>
                </a:rPr>
                <a:t>Proof</a:t>
              </a:r>
              <a:r>
                <a:rPr lang="en-US" sz="1200"/>
                <a:t>: each off-goal box needs </a:t>
              </a:r>
              <a:r>
                <a:rPr lang="en-US" sz="1200" b="1">
                  <a:solidFill>
                    <a:srgbClr val="2563EB"/>
                  </a:solidFill>
                </a:rPr>
                <a:t>≥ 1 push</a:t>
              </a:r>
              <a:r>
                <a:rPr lang="en-US" sz="1200"/>
                <a:t>, so </a:t>
              </a:r>
              <a:r>
                <a:rPr lang="en-US" sz="1200" b="1">
                  <a:solidFill>
                    <a:srgbClr val="F59E0B"/>
                  </a:solidFill>
                </a:rPr>
                <a:t>h ≤ h*</a:t>
              </a:r>
              <a:r>
                <a:rPr lang="en-US" sz="1200"/>
                <a:t>; one move changes h by </a:t>
              </a:r>
              <a:r>
                <a:rPr lang="en-US" sz="1200" b="1">
                  <a:solidFill>
                    <a:srgbClr val="2563EB"/>
                  </a:solidFill>
                </a:rPr>
                <a:t>≤ 1</a:t>
              </a:r>
              <a:r>
                <a:rPr lang="en-US" sz="1200"/>
                <a:t>, so </a:t>
              </a:r>
              <a:r>
                <a:rPr lang="en-US" sz="1200" b="1">
                  <a:solidFill>
                    <a:srgbClr val="F59E0B"/>
                  </a:solidFill>
                </a:rPr>
                <a:t>h(s) ≤ 1 + h(s′)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2563EB"/>
                  </a:solidFill>
                </a:rPr>
                <a:t>Experiment</a:t>
              </a:r>
              <a:r>
                <a:rPr lang="en-US" sz="1200"/>
                <a:t>: </a:t>
              </a:r>
              <a:r>
                <a:rPr lang="en-US" sz="1200" b="1">
                  <a:solidFill>
                    <a:srgbClr val="7C3AED"/>
                  </a:solidFill>
                </a:rPr>
                <a:t>BFS</a:t>
              </a:r>
              <a:r>
                <a:rPr lang="en-US" sz="1200"/>
                <a:t> samples ≤ 150 states, </a:t>
              </a:r>
              <a:r>
                <a:rPr lang="en-US" sz="1200" b="1">
                  <a:solidFill>
                    <a:srgbClr val="2563EB"/>
                  </a:solidFill>
                </a:rPr>
                <a:t>UCS</a:t>
              </a:r>
              <a:r>
                <a:rPr lang="en-US" sz="1200"/>
                <a:t> gives </a:t>
              </a:r>
              <a:r>
                <a:rPr lang="en-US" sz="1200" b="1">
                  <a:solidFill>
                    <a:srgbClr val="F59E0B"/>
                  </a:solidFill>
                </a:rPr>
                <a:t>h*</a:t>
              </a:r>
              <a:r>
                <a:rPr lang="en-US" sz="1200"/>
                <a:t>(s)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2563EB"/>
                  </a:solidFill>
                </a:rPr>
                <a:t>Result</a:t>
              </a:r>
              <a:r>
                <a:rPr lang="en-US" sz="1200"/>
                <a:t>: </a:t>
              </a:r>
              <a:r>
                <a:rPr lang="en-US" sz="1200" b="1">
                  <a:solidFill>
                    <a:srgbClr val="16A34A"/>
                  </a:solidFill>
                </a:rPr>
                <a:t>admissible</a:t>
              </a:r>
              <a:r>
                <a:rPr lang="en-US" sz="1200"/>
                <a:t> </a:t>
              </a:r>
              <a:r>
                <a:rPr lang="en-US" sz="1200" b="1">
                  <a:solidFill>
                    <a:srgbClr val="16A34A"/>
                  </a:solidFill>
                </a:rPr>
                <a:t>26/26 ✓</a:t>
              </a:r>
              <a:r>
                <a:rPr lang="en-US" sz="1200"/>
                <a:t>, </a:t>
              </a:r>
              <a:r>
                <a:rPr lang="en-US" sz="1200" b="1">
                  <a:solidFill>
                    <a:srgbClr val="16A34A"/>
                  </a:solidFill>
                </a:rPr>
                <a:t>consistent</a:t>
              </a:r>
              <a:r>
                <a:rPr lang="en-US" sz="1200"/>
                <a:t> </a:t>
              </a:r>
              <a:r>
                <a:rPr lang="en-US" sz="1200" b="1">
                  <a:solidFill>
                    <a:srgbClr val="16A34A"/>
                  </a:solidFill>
                </a:rPr>
                <a:t>62/62 ✓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5B65069-536A-BA6C-C463-93CCBFDE0950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3093688"/>
              <a:ext cx="0" cy="162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9861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Heuristic Is Valid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7220" y="1465898"/>
            <a:ext cx="2743200" cy="10835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125" b="1">
                <a:solidFill>
                  <a:srgbClr val="2563EB"/>
                </a:solidFill>
                <a:latin typeface="Barlow Semi Condensed"/>
              </a:rPr>
              <a:t>Admissible:  h ≤ h*</a:t>
            </a:r>
          </a:p>
          <a:p>
            <a:pPr>
              <a:spcBef>
                <a:spcPts val="225"/>
              </a:spcBef>
            </a:pPr>
            <a:r>
              <a:rPr sz="975">
                <a:solidFill>
                  <a:srgbClr val="3D3D3D"/>
                </a:solidFill>
                <a:latin typeface="Barlow Semi Condensed"/>
              </a:rPr>
              <a:t>k boxes off-goal → each needs </a:t>
            </a:r>
            <a:r>
              <a:rPr sz="975" b="1">
                <a:solidFill>
                  <a:srgbClr val="2563EB"/>
                </a:solidFill>
                <a:latin typeface="Barlow Semi Condensed"/>
              </a:rPr>
              <a:t>≥ 1 push</a:t>
            </a:r>
          </a:p>
          <a:p>
            <a:pPr>
              <a:spcBef>
                <a:spcPts val="225"/>
              </a:spcBef>
            </a:pPr>
            <a:r>
              <a:rPr sz="975">
                <a:solidFill>
                  <a:srgbClr val="3D3D3D"/>
                </a:solidFill>
                <a:latin typeface="Barlow Semi Condensed"/>
              </a:rPr>
              <a:t>1 move pushes </a:t>
            </a:r>
            <a:r>
              <a:rPr sz="975" b="1">
                <a:solidFill>
                  <a:srgbClr val="2563EB"/>
                </a:solidFill>
                <a:latin typeface="Barlow Semi Condensed"/>
              </a:rPr>
              <a:t>≤ 1 box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, cost 1</a:t>
            </a:r>
          </a:p>
          <a:p>
            <a:pPr>
              <a:spcBef>
                <a:spcPts val="225"/>
              </a:spcBef>
            </a:pPr>
            <a:r>
              <a:rPr sz="975">
                <a:solidFill>
                  <a:srgbClr val="3D3D3D"/>
                </a:solidFill>
                <a:latin typeface="Barlow Semi Condensed"/>
              </a:rPr>
              <a:t>so </a:t>
            </a:r>
            <a:r>
              <a:rPr sz="975" b="1">
                <a:solidFill>
                  <a:srgbClr val="F59E0B"/>
                </a:solidFill>
                <a:latin typeface="Barlow Semi Condensed"/>
              </a:rPr>
              <a:t>h* ≥ k = h</a:t>
            </a:r>
          </a:p>
          <a:p>
            <a:pPr>
              <a:spcBef>
                <a:spcPts val="225"/>
              </a:spcBef>
            </a:pPr>
            <a:r>
              <a:rPr sz="975">
                <a:solidFill>
                  <a:srgbClr val="3D3D3D"/>
                </a:solidFill>
                <a:latin typeface="Barlow Semi Condensed"/>
              </a:rPr>
              <a:t>Corner </a:t>
            </a:r>
            <a:r>
              <a:rPr sz="975" b="1">
                <a:solidFill>
                  <a:srgbClr val="DC2626"/>
                </a:solidFill>
                <a:latin typeface="Barlow Semi Condensed"/>
              </a:rPr>
              <a:t>dead end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: </a:t>
            </a:r>
            <a:r>
              <a:rPr sz="975" b="1">
                <a:solidFill>
                  <a:srgbClr val="DC2626"/>
                </a:solidFill>
                <a:latin typeface="Barlow Semi Condensed"/>
              </a:rPr>
              <a:t>h* = ∞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, </a:t>
            </a:r>
            <a:r>
              <a:rPr sz="975" b="1">
                <a:solidFill>
                  <a:srgbClr val="16A34A"/>
                </a:solidFill>
                <a:latin typeface="Barlow Semi Condensed"/>
              </a:rPr>
              <a:t>no under-estimate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97580" y="1465898"/>
            <a:ext cx="2743200" cy="8983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125" b="1">
                <a:solidFill>
                  <a:srgbClr val="16A34A"/>
                </a:solidFill>
                <a:latin typeface="Barlow Semi Condensed"/>
              </a:rPr>
              <a:t>Consistent:  h(s) ≤ 1 + h(s′)</a:t>
            </a:r>
          </a:p>
          <a:p>
            <a:pPr>
              <a:spcBef>
                <a:spcPts val="225"/>
              </a:spcBef>
            </a:pPr>
            <a:r>
              <a:rPr sz="975">
                <a:solidFill>
                  <a:srgbClr val="3D3D3D"/>
                </a:solidFill>
                <a:latin typeface="Barlow Semi Condensed"/>
              </a:rPr>
              <a:t>One move changes #on-goal by </a:t>
            </a:r>
            <a:r>
              <a:rPr sz="975" b="1">
                <a:solidFill>
                  <a:srgbClr val="2563EB"/>
                </a:solidFill>
                <a:latin typeface="Barlow Semi Condensed"/>
              </a:rPr>
              <a:t>≤ 1</a:t>
            </a:r>
          </a:p>
          <a:p>
            <a:pPr>
              <a:spcBef>
                <a:spcPts val="225"/>
              </a:spcBef>
            </a:pPr>
            <a:r>
              <a:rPr sz="975">
                <a:solidFill>
                  <a:srgbClr val="3D3D3D"/>
                </a:solidFill>
                <a:latin typeface="Barlow Semi Condensed"/>
              </a:rPr>
              <a:t>so h drops by </a:t>
            </a:r>
            <a:r>
              <a:rPr sz="975" b="1">
                <a:solidFill>
                  <a:srgbClr val="2563EB"/>
                </a:solidFill>
                <a:latin typeface="Barlow Semi Condensed"/>
              </a:rPr>
              <a:t>at most 1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 per step</a:t>
            </a:r>
          </a:p>
          <a:p>
            <a:pPr>
              <a:spcBef>
                <a:spcPts val="225"/>
              </a:spcBef>
            </a:pPr>
            <a:r>
              <a:rPr sz="975" b="1">
                <a:solidFill>
                  <a:srgbClr val="F59E0B"/>
                </a:solidFill>
                <a:latin typeface="Barlow Semi Condensed"/>
              </a:rPr>
              <a:t>h(s) − h(s′) ≤ 1 = step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1" y="3523298"/>
            <a:ext cx="5623559" cy="41148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125" b="1">
                <a:solidFill>
                  <a:srgbClr val="2563EB"/>
                </a:solidFill>
                <a:latin typeface="Barlow Semi Condensed"/>
              </a:rPr>
              <a:t>Admissible + consistent </a:t>
            </a:r>
            <a:r>
              <a:rPr sz="1125">
                <a:solidFill>
                  <a:srgbClr val="3D3D3D"/>
                </a:solidFill>
                <a:latin typeface="Barlow Semi Condensed"/>
              </a:rPr>
              <a:t>→ </a:t>
            </a:r>
            <a:r>
              <a:rPr sz="1125" b="1">
                <a:solidFill>
                  <a:srgbClr val="16A34A"/>
                </a:solidFill>
                <a:latin typeface="Barlow Semi Condensed"/>
              </a:rPr>
              <a:t>A*</a:t>
            </a:r>
            <a:r>
              <a:rPr sz="1125">
                <a:solidFill>
                  <a:srgbClr val="3D3D3D"/>
                </a:solidFill>
                <a:latin typeface="Barlow Semi Condensed"/>
              </a:rPr>
              <a:t> </a:t>
            </a:r>
            <a:r>
              <a:rPr sz="1125" b="1">
                <a:solidFill>
                  <a:srgbClr val="16A34A"/>
                </a:solidFill>
                <a:latin typeface="Barlow Semi Condensed"/>
              </a:rPr>
              <a:t>never loses optimality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Experiment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956C39C-C7A2-2F7F-6AB6-F0B8CED82B3D}"/>
              </a:ext>
            </a:extLst>
          </p:cNvPr>
          <p:cNvGrpSpPr/>
          <p:nvPr/>
        </p:nvGrpSpPr>
        <p:grpSpPr>
          <a:xfrm>
            <a:off x="617219" y="1041603"/>
            <a:ext cx="5692140" cy="1645920"/>
            <a:chOff x="617220" y="1637348"/>
            <a:chExt cx="5692140" cy="1645920"/>
          </a:xfrm>
        </p:grpSpPr>
        <p:sp>
          <p:nvSpPr>
            <p:cNvPr id="3" name="Rounded Rectangle 2"/>
            <p:cNvSpPr/>
            <p:nvPr/>
          </p:nvSpPr>
          <p:spPr>
            <a:xfrm>
              <a:off x="617220" y="2185988"/>
              <a:ext cx="1097280" cy="548640"/>
            </a:xfrm>
            <a:prstGeom prst="roundRect">
              <a:avLst>
                <a:gd name="adj" fmla="val 12000"/>
              </a:avLst>
            </a:prstGeom>
            <a:solidFill>
              <a:srgbClr val="D6EEFE"/>
            </a:solidFill>
            <a:ln w="15875">
              <a:solidFill>
                <a:srgbClr val="77C6FC"/>
              </a:solidFill>
            </a:ln>
          </p:spPr>
          <p:txBody>
            <a:bodyPr wrap="square" lIns="54864" tIns="27432" rIns="54864" bIns="27432" rtlCol="0" anchor="ctr"/>
            <a:lstStyle/>
            <a:p>
              <a:pPr algn="ctr"/>
              <a:r>
                <a:rPr sz="975">
                  <a:solidFill>
                    <a:srgbClr val="3D3D3D"/>
                  </a:solidFill>
                  <a:latin typeface="Barlow Semi Condensed"/>
                </a:rPr>
                <a:t>Initial state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988820" y="2185988"/>
              <a:ext cx="1097280" cy="548640"/>
            </a:xfrm>
            <a:prstGeom prst="roundRect">
              <a:avLst>
                <a:gd name="adj" fmla="val 12000"/>
              </a:avLst>
            </a:prstGeom>
            <a:solidFill>
              <a:srgbClr val="D6EEFE"/>
            </a:solidFill>
            <a:ln w="15875">
              <a:solidFill>
                <a:srgbClr val="77C6FC"/>
              </a:solidFill>
            </a:ln>
          </p:spPr>
          <p:txBody>
            <a:bodyPr wrap="square" lIns="54864" tIns="27432" rIns="54864" bIns="27432" rtlCol="0" anchor="ctr"/>
            <a:lstStyle/>
            <a:p>
              <a:pPr algn="ctr"/>
              <a:r>
                <a:rPr sz="975" b="1">
                  <a:solidFill>
                    <a:srgbClr val="7C3AED"/>
                  </a:solidFill>
                  <a:latin typeface="Barlow Semi Condensed"/>
                </a:rPr>
                <a:t>BFS</a:t>
              </a:r>
              <a:r>
                <a:rPr sz="975">
                  <a:solidFill>
                    <a:srgbClr val="3D3D3D"/>
                  </a:solidFill>
                  <a:latin typeface="Barlow Semi Condensed"/>
                </a:rPr>
                <a:t> sample</a:t>
              </a:r>
            </a:p>
            <a:p>
              <a:pPr algn="ctr"/>
              <a:r>
                <a:rPr sz="975">
                  <a:solidFill>
                    <a:srgbClr val="3D3D3D"/>
                  </a:solidFill>
                  <a:latin typeface="Barlow Semi Condensed"/>
                </a:rPr>
                <a:t>(≤ 150 states)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360420" y="1637348"/>
              <a:ext cx="1097280" cy="548640"/>
            </a:xfrm>
            <a:prstGeom prst="roundRect">
              <a:avLst>
                <a:gd name="adj" fmla="val 12000"/>
              </a:avLst>
            </a:prstGeom>
            <a:solidFill>
              <a:srgbClr val="D6EEFE"/>
            </a:solidFill>
            <a:ln w="15875">
              <a:solidFill>
                <a:srgbClr val="77C6FC"/>
              </a:solidFill>
            </a:ln>
          </p:spPr>
          <p:txBody>
            <a:bodyPr wrap="square" lIns="54864" tIns="27432" rIns="54864" bIns="27432" rtlCol="0" anchor="ctr"/>
            <a:lstStyle/>
            <a:p>
              <a:pPr algn="ctr"/>
              <a:r>
                <a:rPr sz="975" b="1">
                  <a:solidFill>
                    <a:srgbClr val="2563EB"/>
                  </a:solidFill>
                  <a:latin typeface="Barlow Semi Condensed"/>
                </a:rPr>
                <a:t>UCS</a:t>
              </a:r>
              <a:r>
                <a:rPr sz="975">
                  <a:solidFill>
                    <a:srgbClr val="3D3D3D"/>
                  </a:solidFill>
                  <a:latin typeface="Barlow Semi Condensed"/>
                </a:rPr>
                <a:t> gives </a:t>
              </a:r>
              <a:r>
                <a:rPr sz="975" b="1">
                  <a:solidFill>
                    <a:srgbClr val="F59E0B"/>
                  </a:solidFill>
                  <a:latin typeface="Barlow Semi Condensed"/>
                </a:rPr>
                <a:t>h*</a:t>
              </a:r>
              <a:r>
                <a:rPr sz="975">
                  <a:solidFill>
                    <a:srgbClr val="3D3D3D"/>
                  </a:solidFill>
                  <a:latin typeface="Barlow Semi Condensed"/>
                </a:rPr>
                <a:t>(s)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360420" y="2734628"/>
              <a:ext cx="1097280" cy="548640"/>
            </a:xfrm>
            <a:prstGeom prst="roundRect">
              <a:avLst>
                <a:gd name="adj" fmla="val 12000"/>
              </a:avLst>
            </a:prstGeom>
            <a:solidFill>
              <a:srgbClr val="D6EEFE"/>
            </a:solidFill>
            <a:ln w="15875">
              <a:solidFill>
                <a:srgbClr val="77C6FC"/>
              </a:solidFill>
            </a:ln>
          </p:spPr>
          <p:txBody>
            <a:bodyPr wrap="square" lIns="54864" tIns="27432" rIns="54864" bIns="27432" rtlCol="0" anchor="ctr"/>
            <a:lstStyle/>
            <a:p>
              <a:pPr algn="ctr"/>
              <a:r>
                <a:rPr sz="975">
                  <a:solidFill>
                    <a:srgbClr val="3D3D3D"/>
                  </a:solidFill>
                  <a:latin typeface="Barlow Semi Condensed"/>
                </a:rPr>
                <a:t>Generate</a:t>
              </a:r>
            </a:p>
            <a:p>
              <a:pPr algn="ctr"/>
              <a:r>
                <a:rPr sz="975">
                  <a:solidFill>
                    <a:srgbClr val="3D3D3D"/>
                  </a:solidFill>
                  <a:latin typeface="Barlow Semi Condensed"/>
                </a:rPr>
                <a:t>successors s′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663440" y="1637348"/>
              <a:ext cx="1097280" cy="548640"/>
            </a:xfrm>
            <a:prstGeom prst="roundRect">
              <a:avLst>
                <a:gd name="adj" fmla="val 12000"/>
              </a:avLst>
            </a:prstGeom>
            <a:solidFill>
              <a:srgbClr val="D6EEFE"/>
            </a:solidFill>
            <a:ln w="15875">
              <a:solidFill>
                <a:srgbClr val="77C6FC"/>
              </a:solidFill>
            </a:ln>
          </p:spPr>
          <p:txBody>
            <a:bodyPr wrap="square" lIns="54864" tIns="27432" rIns="54864" bIns="27432" rtlCol="0" anchor="ctr"/>
            <a:lstStyle/>
            <a:p>
              <a:pPr algn="ctr"/>
              <a:r>
                <a:rPr sz="975" b="1">
                  <a:solidFill>
                    <a:srgbClr val="F59E0B"/>
                  </a:solidFill>
                  <a:latin typeface="Barlow Semi Condensed"/>
                </a:rPr>
                <a:t>h ≤ h*</a:t>
              </a:r>
              <a:r>
                <a:rPr sz="975">
                  <a:solidFill>
                    <a:srgbClr val="3D3D3D"/>
                  </a:solidFill>
                  <a:latin typeface="Barlow Semi Condensed"/>
                </a:rPr>
                <a:t> ?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663440" y="2734628"/>
              <a:ext cx="1097280" cy="548640"/>
            </a:xfrm>
            <a:prstGeom prst="roundRect">
              <a:avLst>
                <a:gd name="adj" fmla="val 12000"/>
              </a:avLst>
            </a:prstGeom>
            <a:solidFill>
              <a:srgbClr val="D6EEFE"/>
            </a:solidFill>
            <a:ln w="15875">
              <a:solidFill>
                <a:srgbClr val="77C6FC"/>
              </a:solidFill>
            </a:ln>
          </p:spPr>
          <p:txBody>
            <a:bodyPr wrap="square" lIns="54864" tIns="27432" rIns="54864" bIns="27432" rtlCol="0" anchor="ctr"/>
            <a:lstStyle/>
            <a:p>
              <a:pPr algn="ctr"/>
              <a:r>
                <a:rPr sz="975" b="1">
                  <a:solidFill>
                    <a:srgbClr val="F59E0B"/>
                  </a:solidFill>
                  <a:latin typeface="Barlow Semi Condensed"/>
                </a:rPr>
                <a:t>h(s)</a:t>
              </a:r>
              <a:r>
                <a:rPr sz="975">
                  <a:solidFill>
                    <a:srgbClr val="3D3D3D"/>
                  </a:solidFill>
                  <a:latin typeface="Barlow Semi Condensed"/>
                </a:rPr>
                <a:t> </a:t>
              </a:r>
              <a:r>
                <a:rPr sz="975" b="1">
                  <a:solidFill>
                    <a:srgbClr val="2563EB"/>
                  </a:solidFill>
                  <a:latin typeface="Barlow Semi Condensed"/>
                </a:rPr>
                <a:t>≤ 1</a:t>
              </a:r>
              <a:r>
                <a:rPr sz="975">
                  <a:solidFill>
                    <a:srgbClr val="3D3D3D"/>
                  </a:solidFill>
                  <a:latin typeface="Barlow Semi Condensed"/>
                </a:rPr>
                <a:t>+h(s′) ?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1783080" y="2460308"/>
              <a:ext cx="205740" cy="0"/>
            </a:xfrm>
            <a:prstGeom prst="line">
              <a:avLst/>
            </a:prstGeom>
            <a:ln w="22225">
              <a:solidFill>
                <a:srgbClr val="477797"/>
              </a:solidFill>
              <a:tailEnd type="triangle"/>
            </a:ln>
          </p:spPr>
        </p:cxnSp>
        <p:cxnSp>
          <p:nvCxnSpPr>
            <p:cNvPr id="10" name="Connector 9"/>
            <p:cNvCxnSpPr/>
            <p:nvPr/>
          </p:nvCxnSpPr>
          <p:spPr>
            <a:xfrm flipV="1">
              <a:off x="3154680" y="1911668"/>
              <a:ext cx="205740" cy="480060"/>
            </a:xfrm>
            <a:prstGeom prst="line">
              <a:avLst/>
            </a:prstGeom>
            <a:ln w="22225">
              <a:solidFill>
                <a:srgbClr val="477797"/>
              </a:solidFill>
              <a:tailEnd type="triangle"/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3154680" y="2528888"/>
              <a:ext cx="205740" cy="480060"/>
            </a:xfrm>
            <a:prstGeom prst="line">
              <a:avLst/>
            </a:prstGeom>
            <a:ln w="22225">
              <a:solidFill>
                <a:srgbClr val="477797"/>
              </a:solidFill>
              <a:tailEnd type="triangle"/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4457700" y="1911668"/>
              <a:ext cx="205740" cy="0"/>
            </a:xfrm>
            <a:prstGeom prst="line">
              <a:avLst/>
            </a:prstGeom>
            <a:ln w="22225">
              <a:solidFill>
                <a:srgbClr val="477797"/>
              </a:solidFill>
              <a:tailEnd type="triangle"/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4457700" y="3008948"/>
              <a:ext cx="205740" cy="0"/>
            </a:xfrm>
            <a:prstGeom prst="line">
              <a:avLst/>
            </a:prstGeom>
            <a:ln w="22225">
              <a:solidFill>
                <a:srgbClr val="477797"/>
              </a:solidFill>
              <a:tailEnd type="triangle"/>
            </a:ln>
          </p:spPr>
        </p:cxnSp>
        <p:sp>
          <p:nvSpPr>
            <p:cNvPr id="14" name="Rounded Rectangle 13"/>
            <p:cNvSpPr/>
            <p:nvPr/>
          </p:nvSpPr>
          <p:spPr>
            <a:xfrm>
              <a:off x="5829300" y="1671638"/>
              <a:ext cx="480060" cy="480060"/>
            </a:xfrm>
            <a:prstGeom prst="roundRect">
              <a:avLst>
                <a:gd name="adj" fmla="val 12000"/>
              </a:avLst>
            </a:prstGeom>
            <a:noFill/>
            <a:ln>
              <a:noFill/>
            </a:ln>
          </p:spPr>
          <p:txBody>
            <a:bodyPr wrap="square" lIns="54864" tIns="27432" rIns="54864" bIns="27432" rtlCol="0" anchor="ctr"/>
            <a:lstStyle/>
            <a:p>
              <a:pPr algn="ctr"/>
              <a:r>
                <a:rPr sz="750" b="1">
                  <a:solidFill>
                    <a:srgbClr val="16A34A"/>
                  </a:solidFill>
                  <a:latin typeface="Barlow Semi Condensed"/>
                </a:rPr>
                <a:t>26/26 ✓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829300" y="2768918"/>
              <a:ext cx="480060" cy="480060"/>
            </a:xfrm>
            <a:prstGeom prst="roundRect">
              <a:avLst>
                <a:gd name="adj" fmla="val 12000"/>
              </a:avLst>
            </a:prstGeom>
            <a:noFill/>
            <a:ln>
              <a:noFill/>
            </a:ln>
          </p:spPr>
          <p:txBody>
            <a:bodyPr wrap="square" lIns="54864" tIns="27432" rIns="54864" bIns="27432" rtlCol="0" anchor="ctr"/>
            <a:lstStyle/>
            <a:p>
              <a:pPr algn="ctr"/>
              <a:r>
                <a:rPr sz="750" b="1">
                  <a:solidFill>
                    <a:srgbClr val="16A34A"/>
                  </a:solidFill>
                  <a:latin typeface="Barlow Semi Condensed"/>
                </a:rPr>
                <a:t>62/62 ✓</a:t>
              </a: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617220" y="2893263"/>
            <a:ext cx="5623559" cy="54864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l"/>
            <a:r>
              <a:rPr sz="975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Theory and experiment agree</a:t>
            </a:r>
          </a:p>
          <a:p>
            <a:pPr algn="l"/>
            <a:r>
              <a:rPr sz="975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Sample-based, not a proof; only 26 sampled states solved by </a:t>
            </a:r>
            <a:r>
              <a:rPr sz="975" b="1">
                <a:solidFill>
                  <a:srgbClr val="2563EB"/>
                </a:solidFill>
                <a:latin typeface="Barlow Semi Condensed"/>
              </a:rPr>
              <a:t>UCS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 in time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DE7A225-E4BF-9DA1-C963-715A9191F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071348"/>
              </p:ext>
            </p:extLst>
          </p:nvPr>
        </p:nvGraphicFramePr>
        <p:xfrm>
          <a:off x="1056835" y="3716222"/>
          <a:ext cx="4744330" cy="689610"/>
        </p:xfrm>
        <a:graphic>
          <a:graphicData uri="http://schemas.openxmlformats.org/drawingml/2006/table">
            <a:tbl>
              <a:tblPr>
                <a:tableStyleId>{DC089D49-F0A7-471C-B574-B244DF5394D3}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030699962"/>
                    </a:ext>
                  </a:extLst>
                </a:gridCol>
                <a:gridCol w="1024384">
                  <a:extLst>
                    <a:ext uri="{9D8B030D-6E8A-4147-A177-3AD203B41FA5}">
                      <a16:colId xmlns:a16="http://schemas.microsoft.com/office/drawing/2014/main" val="2872961563"/>
                    </a:ext>
                  </a:extLst>
                </a:gridCol>
                <a:gridCol w="845128">
                  <a:extLst>
                    <a:ext uri="{9D8B030D-6E8A-4147-A177-3AD203B41FA5}">
                      <a16:colId xmlns:a16="http://schemas.microsoft.com/office/drawing/2014/main" val="578491858"/>
                    </a:ext>
                  </a:extLst>
                </a:gridCol>
                <a:gridCol w="983673">
                  <a:extLst>
                    <a:ext uri="{9D8B030D-6E8A-4147-A177-3AD203B41FA5}">
                      <a16:colId xmlns:a16="http://schemas.microsoft.com/office/drawing/2014/main" val="2328403696"/>
                    </a:ext>
                  </a:extLst>
                </a:gridCol>
                <a:gridCol w="651163">
                  <a:extLst>
                    <a:ext uri="{9D8B030D-6E8A-4147-A177-3AD203B41FA5}">
                      <a16:colId xmlns:a16="http://schemas.microsoft.com/office/drawing/2014/main" val="302633678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104843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map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77C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Barlow Semi Condensed Medium" panose="00000606000000000000" pitchFamily="2" charset="0"/>
                        </a:rPr>
                        <a:t>states_checked</a:t>
                      </a:r>
                    </a:p>
                  </a:txBody>
                  <a:tcPr marL="9525" marR="9525" marT="9525" marB="0" anchor="ctr">
                    <a:solidFill>
                      <a:srgbClr val="77C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arlow Semi Condensed Medium" panose="00000606000000000000" pitchFamily="2" charset="0"/>
                        </a:rPr>
                        <a:t>admissible_ok</a:t>
                      </a:r>
                    </a:p>
                  </a:txBody>
                  <a:tcPr marL="9525" marR="9525" marT="9525" marB="0" anchor="ctr">
                    <a:solidFill>
                      <a:srgbClr val="77C6FC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rgbClr val="000000"/>
                          </a:solidFill>
                          <a:effectLst/>
                          <a:latin typeface="Barlow Semi Condensed Medium" panose="00000606000000000000" pitchFamily="2" charset="0"/>
                          <a:cs typeface="Arial"/>
                          <a:sym typeface="Arial"/>
                        </a:rPr>
                        <a:t>admissible_fail</a:t>
                      </a:r>
                    </a:p>
                  </a:txBody>
                  <a:tcPr marL="9525" marR="9525" marT="9525" marB="0" anchor="ctr">
                    <a:solidFill>
                      <a:srgbClr val="77C6FC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rgbClr val="000000"/>
                          </a:solidFill>
                          <a:effectLst/>
                          <a:latin typeface="Barlow Semi Condensed Medium" panose="00000606000000000000" pitchFamily="2" charset="0"/>
                          <a:cs typeface="Arial"/>
                          <a:sym typeface="Arial"/>
                        </a:rPr>
                        <a:t>consistent_ok</a:t>
                      </a:r>
                    </a:p>
                  </a:txBody>
                  <a:tcPr marL="9525" marR="9525" marT="9525" marB="0" anchor="ctr">
                    <a:solidFill>
                      <a:srgbClr val="77C6FC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rgbClr val="000000"/>
                          </a:solidFill>
                          <a:effectLst/>
                          <a:latin typeface="Barlow Semi Condensed Medium" panose="00000606000000000000" pitchFamily="2" charset="0"/>
                          <a:cs typeface="Arial"/>
                          <a:sym typeface="Arial"/>
                        </a:rPr>
                        <a:t>consistent_fail</a:t>
                      </a:r>
                    </a:p>
                  </a:txBody>
                  <a:tcPr marL="9525" marR="9525" marT="9525" marB="0" anchor="ctr">
                    <a:solidFill>
                      <a:srgbClr val="77C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061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effectLst/>
                          <a:latin typeface="Barlow Semi Condensed Medium" panose="00000606000000000000" pitchFamily="2" charset="0"/>
                        </a:rPr>
                        <a:t>example_map.txt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Barlow Semi Condensed Medium" panose="00000606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arlow Semi Condensed Medium" panose="00000606000000000000" pitchFamily="2" charset="0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arlow Semi Condensed Medium" panose="00000606000000000000" pitchFamily="2" charset="0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arlow Semi Condensed Medium" panose="00000606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arlow Semi Condensed Medium" panose="00000606000000000000" pitchFamily="2" charset="0"/>
                        </a:rPr>
                        <a:t>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arlow Semi Condensed Medium" panose="00000606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8507187"/>
                  </a:ext>
                </a:extLst>
              </a:tr>
            </a:tbl>
          </a:graphicData>
        </a:graphic>
      </p:graphicFrame>
      <p:sp>
        <p:nvSpPr>
          <p:cNvPr id="23" name="Title 1">
            <a:extLst>
              <a:ext uri="{FF2B5EF4-FFF2-40B4-BE49-F238E27FC236}">
                <a16:creationId xmlns:a16="http://schemas.microsoft.com/office/drawing/2014/main" id="{0B84B085-B588-2D8A-13F4-F926C283B08F}"/>
              </a:ext>
            </a:extLst>
          </p:cNvPr>
          <p:cNvSpPr txBox="1">
            <a:spLocks/>
          </p:cNvSpPr>
          <p:nvPr/>
        </p:nvSpPr>
        <p:spPr>
          <a:xfrm>
            <a:off x="-550072" y="4351008"/>
            <a:ext cx="4183425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sz="1050"/>
              <a:t>Verification Result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5514B0D4-06BD-3DB8-47A3-29628E073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EDF27241-C507-C18D-D1C3-D83BAFFB34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768" y="2420199"/>
            <a:ext cx="4956464" cy="6034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/>
            <a:r>
              <a:rPr lang="en-US" sz="2400"/>
              <a:t>RQ5: Game GUI &amp; System Design</a:t>
            </a:r>
            <a:endParaRPr lang="vi-VN" sz="2400"/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EC4CE769-745B-09EE-99EF-A38C32C3A6A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28850" y="1513904"/>
            <a:ext cx="2225700" cy="8023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/>
              <a:t>08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82408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>
          <a:extLst>
            <a:ext uri="{FF2B5EF4-FFF2-40B4-BE49-F238E27FC236}">
              <a16:creationId xmlns:a16="http://schemas.microsoft.com/office/drawing/2014/main" id="{D0BBDDB6-0822-227E-338E-62C4A138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40">
            <a:extLst>
              <a:ext uri="{FF2B5EF4-FFF2-40B4-BE49-F238E27FC236}">
                <a16:creationId xmlns:a16="http://schemas.microsoft.com/office/drawing/2014/main" id="{A195821F-0CF6-D7C6-04AE-D978B7B5B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5000" y="647302"/>
            <a:ext cx="4908000" cy="4457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lvl="0"/>
            <a:r>
              <a:rPr lang="en-US"/>
              <a:t>RQ5: Approach &amp; Solution</a:t>
            </a:r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A01B12-1A6B-1237-449A-ADA7D9FD6F6F}"/>
              </a:ext>
            </a:extLst>
          </p:cNvPr>
          <p:cNvGrpSpPr/>
          <p:nvPr/>
        </p:nvGrpSpPr>
        <p:grpSpPr>
          <a:xfrm>
            <a:off x="682161" y="1272454"/>
            <a:ext cx="5212500" cy="1275000"/>
            <a:chOff x="751854" y="3063010"/>
            <a:chExt cx="6950000" cy="1700000"/>
          </a:xfrm>
        </p:grpSpPr>
        <p:sp>
          <p:nvSpPr>
            <p:cNvPr id="12" name="Google Shape;2197;p40">
              <a:extLst>
                <a:ext uri="{FF2B5EF4-FFF2-40B4-BE49-F238E27FC236}">
                  <a16:creationId xmlns:a16="http://schemas.microsoft.com/office/drawing/2014/main" id="{2519E34C-2BCC-CFB5-6059-53A3EA6D7086}"/>
                </a:ext>
              </a:extLst>
            </p:cNvPr>
            <p:cNvSpPr txBox="1">
              <a:spLocks/>
            </p:cNvSpPr>
            <p:nvPr/>
          </p:nvSpPr>
          <p:spPr>
            <a:xfrm>
              <a:off x="751854" y="3063010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How did we approach it?</a:t>
              </a:r>
            </a:p>
          </p:txBody>
        </p:sp>
        <p:sp>
          <p:nvSpPr>
            <p:cNvPr id="16" name="Google Shape;2200;p40">
              <a:extLst>
                <a:ext uri="{FF2B5EF4-FFF2-40B4-BE49-F238E27FC236}">
                  <a16:creationId xmlns:a16="http://schemas.microsoft.com/office/drawing/2014/main" id="{8F754E9E-BE80-F964-29F2-4E14004B8AE8}"/>
                </a:ext>
              </a:extLst>
            </p:cNvPr>
            <p:cNvSpPr txBox="1">
              <a:spLocks/>
            </p:cNvSpPr>
            <p:nvPr/>
          </p:nvSpPr>
          <p:spPr>
            <a:xfrm>
              <a:off x="923683" y="3443010"/>
              <a:ext cx="6778171" cy="13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/>
                <a:t>Build the </a:t>
              </a:r>
              <a:r>
                <a:rPr lang="en-US" sz="1200" b="1">
                  <a:solidFill>
                    <a:srgbClr val="2563EB"/>
                  </a:solidFill>
                </a:rPr>
                <a:t>GUI</a:t>
              </a:r>
              <a:r>
                <a:rPr lang="en-US" sz="1200"/>
                <a:t> with </a:t>
              </a:r>
              <a:r>
                <a:rPr lang="en-US" sz="1200" b="1"/>
                <a:t>OOP and separation of concerns</a:t>
              </a:r>
              <a:r>
                <a:rPr lang="en-US" sz="1200"/>
                <a:t>: one class, one job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2563EB"/>
                  </a:solidFill>
                </a:rPr>
                <a:t>Solve first</a:t>
              </a:r>
              <a:r>
                <a:rPr lang="en-US" sz="1200"/>
                <a:t>, then </a:t>
              </a:r>
              <a:r>
                <a:rPr lang="en-US" sz="1200" b="1"/>
                <a:t>replay</a:t>
              </a:r>
              <a:r>
                <a:rPr lang="en-US" sz="1200"/>
                <a:t> the solution step by step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3E787B8-0783-0F40-9C8E-24FD9D19C04C}"/>
                </a:ext>
              </a:extLst>
            </p:cNvPr>
            <p:cNvCxnSpPr>
              <a:cxnSpLocks/>
            </p:cNvCxnSpPr>
            <p:nvPr/>
          </p:nvCxnSpPr>
          <p:spPr>
            <a:xfrm>
              <a:off x="923683" y="3093688"/>
              <a:ext cx="0" cy="167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E187A36-75A9-3551-39CF-2B0F3C7AD849}"/>
              </a:ext>
            </a:extLst>
          </p:cNvPr>
          <p:cNvGrpSpPr/>
          <p:nvPr/>
        </p:nvGrpSpPr>
        <p:grpSpPr>
          <a:xfrm>
            <a:off x="773109" y="2727938"/>
            <a:ext cx="5212500" cy="1237500"/>
            <a:chOff x="4522157" y="3063010"/>
            <a:chExt cx="6950000" cy="1650000"/>
          </a:xfrm>
        </p:grpSpPr>
        <p:sp>
          <p:nvSpPr>
            <p:cNvPr id="15" name="Google Shape;2197;p40">
              <a:extLst>
                <a:ext uri="{FF2B5EF4-FFF2-40B4-BE49-F238E27FC236}">
                  <a16:creationId xmlns:a16="http://schemas.microsoft.com/office/drawing/2014/main" id="{04700355-F394-78DA-A7FA-53B2B63B0674}"/>
                </a:ext>
              </a:extLst>
            </p:cNvPr>
            <p:cNvSpPr txBox="1">
              <a:spLocks/>
            </p:cNvSpPr>
            <p:nvPr/>
          </p:nvSpPr>
          <p:spPr>
            <a:xfrm>
              <a:off x="4522157" y="3063010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What solution did we implement?</a:t>
              </a:r>
            </a:p>
          </p:txBody>
        </p:sp>
        <p:sp>
          <p:nvSpPr>
            <p:cNvPr id="23" name="Google Shape;2200;p40">
              <a:extLst>
                <a:ext uri="{FF2B5EF4-FFF2-40B4-BE49-F238E27FC236}">
                  <a16:creationId xmlns:a16="http://schemas.microsoft.com/office/drawing/2014/main" id="{AED6E220-52E9-EC65-7A4B-9BAF4DF3D748}"/>
                </a:ext>
              </a:extLst>
            </p:cNvPr>
            <p:cNvSpPr txBox="1">
              <a:spLocks/>
            </p:cNvSpPr>
            <p:nvPr/>
          </p:nvSpPr>
          <p:spPr>
            <a:xfrm>
              <a:off x="4572000" y="3443010"/>
              <a:ext cx="6900157" cy="1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7C3AED"/>
                  </a:solidFill>
                </a:rPr>
                <a:t>pygame</a:t>
              </a:r>
              <a:r>
                <a:rPr lang="en-US" sz="1200"/>
                <a:t> app: </a:t>
              </a:r>
              <a:r>
                <a:rPr lang="en-US" sz="1050" b="1">
                  <a:solidFill>
                    <a:srgbClr val="4B5563"/>
                  </a:solidFill>
                  <a:latin typeface="Consolas"/>
                </a:rPr>
                <a:t>GameApp</a:t>
              </a:r>
              <a:r>
                <a:rPr lang="en-US" sz="1200"/>
                <a:t>, </a:t>
              </a:r>
              <a:r>
                <a:rPr lang="en-US" sz="1050" b="1">
                  <a:solidFill>
                    <a:srgbClr val="4B5563"/>
                  </a:solidFill>
                  <a:latin typeface="Consolas"/>
                </a:rPr>
                <a:t>ScreenController</a:t>
              </a:r>
              <a:r>
                <a:rPr lang="en-US" sz="1200"/>
                <a:t>, </a:t>
              </a:r>
              <a:r>
                <a:rPr lang="en-US" sz="1050" b="1">
                  <a:solidFill>
                    <a:srgbClr val="4B5563"/>
                  </a:solidFill>
                  <a:latin typeface="Consolas"/>
                </a:rPr>
                <a:t>EventHandler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2563EB"/>
                  </a:solidFill>
                </a:rPr>
                <a:t>Screens</a:t>
              </a:r>
              <a:r>
                <a:rPr lang="en-US" sz="1200"/>
                <a:t>: </a:t>
              </a:r>
              <a:r>
                <a:rPr lang="en-US" sz="1050" b="1">
                  <a:solidFill>
                    <a:srgbClr val="4B5563"/>
                  </a:solidFill>
                  <a:latin typeface="Consolas"/>
                </a:rPr>
                <a:t>MainMenuScreen</a:t>
              </a:r>
              <a:r>
                <a:rPr lang="en-US" sz="1200"/>
                <a:t>, </a:t>
              </a:r>
              <a:r>
                <a:rPr lang="en-US" sz="1050" b="1">
                  <a:solidFill>
                    <a:srgbClr val="4B5563"/>
                  </a:solidFill>
                  <a:latin typeface="Consolas"/>
                </a:rPr>
                <a:t>MapSelectScreen</a:t>
              </a:r>
              <a:r>
                <a:rPr lang="en-US" sz="1200"/>
                <a:t>, </a:t>
              </a:r>
              <a:r>
                <a:rPr lang="en-US" sz="1050" b="1">
                  <a:solidFill>
                    <a:srgbClr val="4B5563"/>
                  </a:solidFill>
                  <a:latin typeface="Consolas"/>
                </a:rPr>
                <a:t>GameScreen</a:t>
              </a:r>
              <a:r>
                <a:rPr lang="en-US" sz="1200"/>
                <a:t>; </a:t>
              </a:r>
              <a:r>
                <a:rPr lang="en-US" sz="1050" b="1">
                  <a:solidFill>
                    <a:srgbClr val="4B5563"/>
                  </a:solidFill>
                  <a:latin typeface="Consolas"/>
                </a:rPr>
                <a:t>MapRenderer</a:t>
              </a:r>
              <a:r>
                <a:rPr lang="en-US" sz="1200"/>
                <a:t> draws the board, </a:t>
              </a:r>
              <a:r>
                <a:rPr lang="en-US" sz="1050" b="1">
                  <a:solidFill>
                    <a:srgbClr val="4B5563"/>
                  </a:solidFill>
                  <a:latin typeface="Consolas"/>
                </a:rPr>
                <a:t>ui_config</a:t>
              </a:r>
              <a:r>
                <a:rPr lang="en-US" sz="1200"/>
                <a:t> holds styles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2563EB"/>
                  </a:solidFill>
                </a:rPr>
                <a:t>Playback</a:t>
              </a:r>
              <a:r>
                <a:rPr lang="en-US" sz="1200"/>
                <a:t>: Space pause/resume, ← → previous/next step, auto-play every </a:t>
              </a:r>
              <a:r>
                <a:rPr lang="en-US" sz="1200" b="1">
                  <a:solidFill>
                    <a:srgbClr val="F59E0B"/>
                  </a:solidFill>
                </a:rPr>
                <a:t>700 ms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5B65069-536A-BA6C-C463-93CCBFDE0950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3093688"/>
              <a:ext cx="0" cy="162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98612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 Architecture (OOP)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465898"/>
            <a:ext cx="1371600" cy="342900"/>
          </a:xfrm>
          <a:prstGeom prst="roundRect">
            <a:avLst>
              <a:gd name="adj" fmla="val 12000"/>
            </a:avLst>
          </a:prstGeom>
          <a:solidFill>
            <a:srgbClr val="77C6FC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GameApp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08760" y="2117408"/>
            <a:ext cx="1508760" cy="34290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ScreenController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40" y="2117408"/>
            <a:ext cx="1508760" cy="34290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EventHandler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" y="2803208"/>
            <a:ext cx="1303020" cy="34290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MainMenuScreen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2803208"/>
            <a:ext cx="1303020" cy="34290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MapSelectScreen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7580" y="2803208"/>
            <a:ext cx="1303020" cy="34290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GameScreen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7580" y="3489008"/>
            <a:ext cx="1303020" cy="34290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MapRenderer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6340" y="3489008"/>
            <a:ext cx="1234440" cy="34290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ui_config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468880" y="1808798"/>
            <a:ext cx="685800" cy="30861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cxnSp>
        <p:nvCxnSpPr>
          <p:cNvPr id="12" name="Connector 11"/>
          <p:cNvCxnSpPr/>
          <p:nvPr/>
        </p:nvCxnSpPr>
        <p:spPr>
          <a:xfrm>
            <a:off x="3703320" y="1808798"/>
            <a:ext cx="754380" cy="30861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268730" y="2460308"/>
            <a:ext cx="994410" cy="34290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cxnSp>
        <p:nvCxnSpPr>
          <p:cNvPr id="14" name="Connector 13"/>
          <p:cNvCxnSpPr/>
          <p:nvPr/>
        </p:nvCxnSpPr>
        <p:spPr>
          <a:xfrm>
            <a:off x="2263140" y="2460308"/>
            <a:ext cx="445770" cy="34290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cxnSp>
        <p:nvCxnSpPr>
          <p:cNvPr id="15" name="Connector 14"/>
          <p:cNvCxnSpPr/>
          <p:nvPr/>
        </p:nvCxnSpPr>
        <p:spPr>
          <a:xfrm>
            <a:off x="2263140" y="2460308"/>
            <a:ext cx="1885950" cy="34290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cxnSp>
        <p:nvCxnSpPr>
          <p:cNvPr id="16" name="Connector 15"/>
          <p:cNvCxnSpPr/>
          <p:nvPr/>
        </p:nvCxnSpPr>
        <p:spPr>
          <a:xfrm>
            <a:off x="4149090" y="3146108"/>
            <a:ext cx="0" cy="34290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cxnSp>
        <p:nvCxnSpPr>
          <p:cNvPr id="17" name="Connector 16"/>
          <p:cNvCxnSpPr/>
          <p:nvPr/>
        </p:nvCxnSpPr>
        <p:spPr>
          <a:xfrm>
            <a:off x="4800600" y="3660458"/>
            <a:ext cx="205740" cy="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8" name="Rounded Rectangle 17"/>
          <p:cNvSpPr/>
          <p:nvPr/>
        </p:nvSpPr>
        <p:spPr>
          <a:xfrm>
            <a:off x="617220" y="3454717"/>
            <a:ext cx="2674620" cy="48006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 b="1">
                <a:solidFill>
                  <a:srgbClr val="2563EB"/>
                </a:solidFill>
                <a:latin typeface="Barlow Semi Condensed"/>
              </a:rPr>
              <a:t>Separation of concerns: 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one class, one job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Playback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43350" y="1465898"/>
            <a:ext cx="2297430" cy="288036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l"/>
            <a:r>
              <a:rPr sz="975" b="1">
                <a:solidFill>
                  <a:srgbClr val="2563EB"/>
                </a:solidFill>
                <a:latin typeface="Barlow Semi Condensed"/>
              </a:rPr>
              <a:t>Space  </a:t>
            </a:r>
            <a:r>
              <a:rPr sz="975" b="1">
                <a:solidFill>
                  <a:srgbClr val="7C3AED"/>
                </a:solidFill>
                <a:latin typeface="Barlow Semi Condensed"/>
              </a:rPr>
              <a:t>pause / resume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43350" y="1808798"/>
            <a:ext cx="2297430" cy="288036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l"/>
            <a:r>
              <a:rPr sz="975" b="1">
                <a:solidFill>
                  <a:srgbClr val="2563EB"/>
                </a:solidFill>
                <a:latin typeface="Barlow Semi Condensed"/>
              </a:rPr>
              <a:t>←  →  </a:t>
            </a:r>
            <a:r>
              <a:rPr sz="975" b="1">
                <a:solidFill>
                  <a:srgbClr val="7C3AED"/>
                </a:solidFill>
                <a:latin typeface="Barlow Semi Condensed"/>
              </a:rPr>
              <a:t>previous / next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43350" y="2151698"/>
            <a:ext cx="2297430" cy="288036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l"/>
            <a:r>
              <a:rPr sz="975" b="1">
                <a:solidFill>
                  <a:srgbClr val="2563EB"/>
                </a:solidFill>
                <a:latin typeface="Barlow Semi Condensed"/>
              </a:rPr>
              <a:t>Auto-play  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1 step every </a:t>
            </a:r>
            <a:r>
              <a:rPr sz="975" b="1">
                <a:solidFill>
                  <a:srgbClr val="F59E0B"/>
                </a:solidFill>
                <a:latin typeface="Barlow Semi Condensed"/>
              </a:rPr>
              <a:t>700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43350" y="2597468"/>
            <a:ext cx="229743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050" b="1">
                <a:solidFill>
                  <a:srgbClr val="16A34A"/>
                </a:solidFill>
                <a:latin typeface="Barlow Semi Condensed"/>
              </a:rPr>
              <a:t>Pros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 b="1">
                <a:solidFill>
                  <a:srgbClr val="2563EB"/>
                </a:solidFill>
                <a:latin typeface="Barlow Semi Condensed"/>
              </a:rPr>
              <a:t>OOP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, clear responsibilities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Step counter = total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43350" y="3379280"/>
            <a:ext cx="2297430" cy="52806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050" b="1">
                <a:solidFill>
                  <a:srgbClr val="F59E0B"/>
                </a:solidFill>
                <a:latin typeface="Barlow Semi Condensed"/>
              </a:rPr>
              <a:t>Cons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Not yet run on macOS 13.7.8 Intel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8B5D16-654B-E7F8-4B5E-0B025D913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80" y="1384433"/>
            <a:ext cx="3027787" cy="277063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0A539202-9E3F-2B9F-6323-CCB4D4EE6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7C9C2C18-4250-59B2-E329-C48507F7D7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768" y="2420199"/>
            <a:ext cx="4956464" cy="6034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/>
            <a:r>
              <a:rPr lang="en-US" sz="2400"/>
              <a:t>RQ6: Competitive Two-Agent Formulation</a:t>
            </a:r>
            <a:endParaRPr lang="vi-VN" sz="2400"/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94BA51F0-3B64-451D-8037-31DFD09EDBD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28850" y="1513904"/>
            <a:ext cx="2225700" cy="8023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/>
              <a:t>09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670757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>
          <a:extLst>
            <a:ext uri="{FF2B5EF4-FFF2-40B4-BE49-F238E27FC236}">
              <a16:creationId xmlns:a16="http://schemas.microsoft.com/office/drawing/2014/main" id="{D0BBDDB6-0822-227E-338E-62C4A138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40">
            <a:extLst>
              <a:ext uri="{FF2B5EF4-FFF2-40B4-BE49-F238E27FC236}">
                <a16:creationId xmlns:a16="http://schemas.microsoft.com/office/drawing/2014/main" id="{A195821F-0CF6-D7C6-04AE-D978B7B5B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5000" y="578030"/>
            <a:ext cx="4908000" cy="4457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lvl="0"/>
            <a:r>
              <a:rPr lang="en-US"/>
              <a:t>RQ6: Approach &amp; Solution</a:t>
            </a:r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A01B12-1A6B-1237-449A-ADA7D9FD6F6F}"/>
              </a:ext>
            </a:extLst>
          </p:cNvPr>
          <p:cNvGrpSpPr/>
          <p:nvPr/>
        </p:nvGrpSpPr>
        <p:grpSpPr>
          <a:xfrm>
            <a:off x="682161" y="1272454"/>
            <a:ext cx="5212500" cy="1275000"/>
            <a:chOff x="751854" y="3063010"/>
            <a:chExt cx="6950000" cy="1700000"/>
          </a:xfrm>
        </p:grpSpPr>
        <p:sp>
          <p:nvSpPr>
            <p:cNvPr id="12" name="Google Shape;2197;p40">
              <a:extLst>
                <a:ext uri="{FF2B5EF4-FFF2-40B4-BE49-F238E27FC236}">
                  <a16:creationId xmlns:a16="http://schemas.microsoft.com/office/drawing/2014/main" id="{2519E34C-2BCC-CFB5-6059-53A3EA6D7086}"/>
                </a:ext>
              </a:extLst>
            </p:cNvPr>
            <p:cNvSpPr txBox="1">
              <a:spLocks/>
            </p:cNvSpPr>
            <p:nvPr/>
          </p:nvSpPr>
          <p:spPr>
            <a:xfrm>
              <a:off x="751854" y="3063010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How did we approach it?</a:t>
              </a:r>
            </a:p>
          </p:txBody>
        </p:sp>
        <p:sp>
          <p:nvSpPr>
            <p:cNvPr id="16" name="Google Shape;2200;p40">
              <a:extLst>
                <a:ext uri="{FF2B5EF4-FFF2-40B4-BE49-F238E27FC236}">
                  <a16:creationId xmlns:a16="http://schemas.microsoft.com/office/drawing/2014/main" id="{8F754E9E-BE80-F964-29F2-4E14004B8AE8}"/>
                </a:ext>
              </a:extLst>
            </p:cNvPr>
            <p:cNvSpPr txBox="1">
              <a:spLocks/>
            </p:cNvSpPr>
            <p:nvPr/>
          </p:nvSpPr>
          <p:spPr>
            <a:xfrm>
              <a:off x="923683" y="3443010"/>
              <a:ext cx="6778171" cy="13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2563EB"/>
                  </a:solidFill>
                </a:rPr>
                <a:t>Extend the single-agent state</a:t>
              </a:r>
              <a:r>
                <a:rPr lang="en-US" sz="1200"/>
                <a:t> with a </a:t>
              </a:r>
              <a:r>
                <a:rPr lang="en-US" sz="1200" b="1"/>
                <a:t>second agent</a:t>
              </a:r>
              <a:r>
                <a:rPr lang="en-US" sz="1200"/>
                <a:t> and </a:t>
              </a:r>
              <a:r>
                <a:rPr lang="en-US" sz="1200" b="1"/>
                <a:t>box ownership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/>
                <a:t>Both agents choose an action at the </a:t>
              </a:r>
              <a:r>
                <a:rPr lang="en-US" sz="1200" b="1">
                  <a:solidFill>
                    <a:srgbClr val="F59E0B"/>
                  </a:solidFill>
                </a:rPr>
                <a:t>same time</a:t>
              </a:r>
              <a:r>
                <a:rPr lang="en-US" sz="1200"/>
                <a:t> each turn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3E787B8-0783-0F40-9C8E-24FD9D19C04C}"/>
                </a:ext>
              </a:extLst>
            </p:cNvPr>
            <p:cNvCxnSpPr>
              <a:cxnSpLocks/>
            </p:cNvCxnSpPr>
            <p:nvPr/>
          </p:nvCxnSpPr>
          <p:spPr>
            <a:xfrm>
              <a:off x="923683" y="3093688"/>
              <a:ext cx="0" cy="167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E187A36-75A9-3551-39CF-2B0F3C7AD849}"/>
              </a:ext>
            </a:extLst>
          </p:cNvPr>
          <p:cNvGrpSpPr/>
          <p:nvPr/>
        </p:nvGrpSpPr>
        <p:grpSpPr>
          <a:xfrm>
            <a:off x="773109" y="2727938"/>
            <a:ext cx="5212500" cy="1237500"/>
            <a:chOff x="4522157" y="3063010"/>
            <a:chExt cx="6950000" cy="1650000"/>
          </a:xfrm>
        </p:grpSpPr>
        <p:sp>
          <p:nvSpPr>
            <p:cNvPr id="15" name="Google Shape;2197;p40">
              <a:extLst>
                <a:ext uri="{FF2B5EF4-FFF2-40B4-BE49-F238E27FC236}">
                  <a16:creationId xmlns:a16="http://schemas.microsoft.com/office/drawing/2014/main" id="{04700355-F394-78DA-A7FA-53B2B63B0674}"/>
                </a:ext>
              </a:extLst>
            </p:cNvPr>
            <p:cNvSpPr txBox="1">
              <a:spLocks/>
            </p:cNvSpPr>
            <p:nvPr/>
          </p:nvSpPr>
          <p:spPr>
            <a:xfrm>
              <a:off x="4522157" y="3063010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What solution did we implement?</a:t>
              </a:r>
            </a:p>
          </p:txBody>
        </p:sp>
        <p:sp>
          <p:nvSpPr>
            <p:cNvPr id="23" name="Google Shape;2200;p40">
              <a:extLst>
                <a:ext uri="{FF2B5EF4-FFF2-40B4-BE49-F238E27FC236}">
                  <a16:creationId xmlns:a16="http://schemas.microsoft.com/office/drawing/2014/main" id="{AED6E220-52E9-EC65-7A4B-9BAF4DF3D748}"/>
                </a:ext>
              </a:extLst>
            </p:cNvPr>
            <p:cNvSpPr txBox="1">
              <a:spLocks/>
            </p:cNvSpPr>
            <p:nvPr/>
          </p:nvSpPr>
          <p:spPr>
            <a:xfrm>
              <a:off x="4572000" y="3443010"/>
              <a:ext cx="6900157" cy="1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050" b="1">
                  <a:solidFill>
                    <a:srgbClr val="4B5563"/>
                  </a:solidFill>
                  <a:latin typeface="Consolas"/>
                </a:rPr>
                <a:t>CompetitiveState</a:t>
              </a:r>
              <a:r>
                <a:rPr lang="en-US" sz="1200"/>
                <a:t>: agent1, agent2, boxes, </a:t>
              </a:r>
              <a:r>
                <a:rPr lang="en-US" sz="1050" b="1">
                  <a:solidFill>
                    <a:srgbClr val="4B5563"/>
                  </a:solidFill>
                  <a:latin typeface="Consolas"/>
                </a:rPr>
                <a:t>box_owners</a:t>
              </a:r>
              <a:r>
                <a:rPr lang="en-US" sz="1200"/>
                <a:t> (</a:t>
              </a:r>
              <a:r>
                <a:rPr lang="en-US" sz="1200" b="1">
                  <a:solidFill>
                    <a:srgbClr val="7C3AED"/>
                  </a:solidFill>
                </a:rPr>
                <a:t>who pushed last</a:t>
              </a:r>
              <a:r>
                <a:rPr lang="en-US" sz="1200"/>
                <a:t>)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2563EB"/>
                  </a:solidFill>
                </a:rPr>
                <a:t>Score</a:t>
              </a:r>
              <a:r>
                <a:rPr lang="en-US" sz="1200"/>
                <a:t> = boxes on goals owned by the agent; pushing a box </a:t>
              </a:r>
              <a:r>
                <a:rPr lang="en-US" sz="1200" b="1">
                  <a:solidFill>
                    <a:srgbClr val="7C3AED"/>
                  </a:solidFill>
                </a:rPr>
                <a:t>changes its owner</a:t>
              </a:r>
              <a:r>
                <a:rPr lang="en-US" sz="1200"/>
                <a:t> (</a:t>
              </a:r>
              <a:r>
                <a:rPr lang="en-US" sz="1200" b="1">
                  <a:solidFill>
                    <a:srgbClr val="F59E0B"/>
                  </a:solidFill>
                </a:rPr>
                <a:t>stealing</a:t>
              </a:r>
              <a:r>
                <a:rPr lang="en-US" sz="1200"/>
                <a:t>)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050" b="1">
                  <a:solidFill>
                    <a:srgbClr val="4B5563"/>
                  </a:solidFill>
                  <a:latin typeface="Consolas"/>
                </a:rPr>
                <a:t>resolve_actions</a:t>
              </a:r>
              <a:r>
                <a:rPr lang="en-US" sz="1200"/>
                <a:t> blocks </a:t>
              </a:r>
              <a:r>
                <a:rPr lang="en-US" sz="1200" b="1">
                  <a:solidFill>
                    <a:srgbClr val="7C3AED"/>
                  </a:solidFill>
                </a:rPr>
                <a:t>conflicts</a:t>
              </a:r>
              <a:r>
                <a:rPr lang="en-US" sz="1200"/>
                <a:t>: </a:t>
              </a:r>
              <a:r>
                <a:rPr lang="en-US" sz="1200" b="1">
                  <a:solidFill>
                    <a:srgbClr val="F59E0B"/>
                  </a:solidFill>
                </a:rPr>
                <a:t>same target cell</a:t>
              </a:r>
              <a:r>
                <a:rPr lang="en-US" sz="1200"/>
                <a:t>, </a:t>
              </a:r>
              <a:r>
                <a:rPr lang="en-US" sz="1200" b="1">
                  <a:solidFill>
                    <a:srgbClr val="F59E0B"/>
                  </a:solidFill>
                </a:rPr>
                <a:t>swap</a:t>
              </a:r>
              <a:r>
                <a:rPr lang="en-US" sz="1200"/>
                <a:t>, </a:t>
              </a:r>
              <a:r>
                <a:rPr lang="en-US" sz="1200" b="1">
                  <a:solidFill>
                    <a:srgbClr val="F59E0B"/>
                  </a:solidFill>
                </a:rPr>
                <a:t>push into same cell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5B65069-536A-BA6C-C463-93CCBFDE0950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3093688"/>
              <a:ext cx="0" cy="162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98612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State &amp; Scoring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7220" y="1431608"/>
            <a:ext cx="2468880" cy="2057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wrap="square" lIns="54864" tIns="27432" rIns="54864" bIns="27432" rtlCol="0" anchor="ctr"/>
          <a:lstStyle/>
          <a:p>
            <a:pPr algn="l"/>
            <a:r>
              <a:rPr sz="1050" b="1">
                <a:solidFill>
                  <a:srgbClr val="477797"/>
                </a:solidFill>
                <a:latin typeface="Barlow Semi Condensed"/>
              </a:rPr>
              <a:t>CompetitiveState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" y="1705928"/>
            <a:ext cx="2468880" cy="34290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3D3D3D"/>
                </a:solidFill>
                <a:latin typeface="Barlow Semi Condensed"/>
              </a:rPr>
              <a:t>agent 1 · agent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" y="2131124"/>
            <a:ext cx="2468880" cy="34290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3D3D3D"/>
                </a:solidFill>
                <a:latin typeface="Barlow Semi Condensed"/>
              </a:rPr>
              <a:t>boxes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" y="2556320"/>
            <a:ext cx="2468880" cy="34290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3D3D3D"/>
                </a:solidFill>
                <a:latin typeface="Barlow Semi Condensed"/>
              </a:rPr>
              <a:t>goals · walls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" y="2981516"/>
            <a:ext cx="2468880" cy="34290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7C3AED"/>
                </a:solidFill>
                <a:latin typeface="Barlow Semi Condensed"/>
              </a:rPr>
              <a:t>box_owners</a:t>
            </a:r>
            <a:r>
              <a:rPr sz="1050">
                <a:solidFill>
                  <a:srgbClr val="3D3D3D"/>
                </a:solidFill>
                <a:latin typeface="Barlow Semi Condensed"/>
              </a:rPr>
              <a:t>  (</a:t>
            </a:r>
            <a:r>
              <a:rPr sz="1050" b="1">
                <a:solidFill>
                  <a:srgbClr val="7C3AED"/>
                </a:solidFill>
                <a:latin typeface="Barlow Semi Condensed"/>
              </a:rPr>
              <a:t>who pushed last</a:t>
            </a:r>
            <a:r>
              <a:rPr sz="1050">
                <a:solidFill>
                  <a:srgbClr val="3D3D3D"/>
                </a:solidFill>
                <a:latin typeface="Barlow Semi Condensed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0420" y="1431608"/>
            <a:ext cx="2880360" cy="2057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wrap="square" lIns="54864" tIns="27432" rIns="54864" bIns="27432" rtlCol="0" anchor="ctr"/>
          <a:lstStyle/>
          <a:p>
            <a:pPr algn="l"/>
            <a:r>
              <a:rPr sz="1050" b="1">
                <a:solidFill>
                  <a:srgbClr val="477797"/>
                </a:solidFill>
                <a:latin typeface="Barlow Semi Condensed"/>
              </a:rPr>
              <a:t>Ownership “stealing”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0420" y="1705928"/>
            <a:ext cx="2880360" cy="37719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A1 pushes box onto goal → </a:t>
            </a:r>
            <a:r>
              <a:rPr sz="975" b="1">
                <a:solidFill>
                  <a:srgbClr val="16A34A"/>
                </a:solidFill>
                <a:latin typeface="Barlow Semi Condensed"/>
              </a:rPr>
              <a:t>A1 +1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00600" y="2083118"/>
            <a:ext cx="0" cy="185166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1" name="Rounded Rectangle 10"/>
          <p:cNvSpPr/>
          <p:nvPr/>
        </p:nvSpPr>
        <p:spPr>
          <a:xfrm>
            <a:off x="3360420" y="2268284"/>
            <a:ext cx="2880360" cy="37719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A2 </a:t>
            </a:r>
            <a:r>
              <a:rPr sz="975" b="1">
                <a:solidFill>
                  <a:srgbClr val="DC2626"/>
                </a:solidFill>
                <a:latin typeface="Barlow Semi Condensed"/>
              </a:rPr>
              <a:t>pushes it off</a:t>
            </a:r>
            <a:r>
              <a:rPr sz="975">
                <a:solidFill>
                  <a:srgbClr val="3D3D3D"/>
                </a:solidFill>
                <a:latin typeface="Barlow Semi Condensed"/>
              </a:rPr>
              <a:t> → </a:t>
            </a:r>
            <a:r>
              <a:rPr sz="975" b="1">
                <a:solidFill>
                  <a:srgbClr val="7C3AED"/>
                </a:solidFill>
                <a:latin typeface="Barlow Semi Condensed"/>
              </a:rPr>
              <a:t>owner = A2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2645474"/>
            <a:ext cx="0" cy="185166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3" name="Rounded Rectangle 12"/>
          <p:cNvSpPr/>
          <p:nvPr/>
        </p:nvSpPr>
        <p:spPr>
          <a:xfrm>
            <a:off x="3360420" y="2830640"/>
            <a:ext cx="2880360" cy="37719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A2 pushes it back on → </a:t>
            </a:r>
            <a:r>
              <a:rPr sz="975" b="1">
                <a:solidFill>
                  <a:srgbClr val="16A34A"/>
                </a:solidFill>
                <a:latin typeface="Barlow Semi Condensed"/>
              </a:rPr>
              <a:t>A2 +1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" y="3386138"/>
            <a:ext cx="27432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050" b="1">
                <a:solidFill>
                  <a:srgbClr val="16A34A"/>
                </a:solidFill>
                <a:latin typeface="Barlow Semi Condensed"/>
              </a:rPr>
              <a:t>Pros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Simple </a:t>
            </a:r>
            <a:r>
              <a:rPr sz="900" b="1">
                <a:solidFill>
                  <a:srgbClr val="7C3AED"/>
                </a:solidFill>
                <a:latin typeface="Barlow Semi Condensed"/>
              </a:rPr>
              <a:t>ownership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 rule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Rules separate from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7580" y="3386138"/>
            <a:ext cx="27432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050" b="1">
                <a:solidFill>
                  <a:srgbClr val="F59E0B"/>
                </a:solidFill>
                <a:latin typeface="Barlow Semi Condensed"/>
              </a:rPr>
              <a:t>Cons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No </a:t>
            </a:r>
            <a:r>
              <a:rPr sz="900" b="1">
                <a:solidFill>
                  <a:srgbClr val="F59E0B"/>
                </a:solidFill>
                <a:latin typeface="Barlow Semi Condensed"/>
              </a:rPr>
              <a:t>adversarial search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 (</a:t>
            </a:r>
            <a:r>
              <a:rPr sz="900" b="1">
                <a:solidFill>
                  <a:srgbClr val="7C3AED"/>
                </a:solidFill>
                <a:latin typeface="Barlow Semi Condensed"/>
              </a:rPr>
              <a:t>minimax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)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Rules only; strategy is in RQ7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Simultaneous Turn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14500" y="1431608"/>
            <a:ext cx="1508760" cy="288036"/>
          </a:xfrm>
          <a:prstGeom prst="roundRect">
            <a:avLst>
              <a:gd name="adj" fmla="val 12000"/>
            </a:avLst>
          </a:prstGeom>
          <a:solidFill>
            <a:srgbClr val="77C6FC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State S(t)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" y="1945958"/>
            <a:ext cx="1508760" cy="41148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Agent 1 · </a:t>
            </a:r>
            <a:r>
              <a:rPr sz="900" b="1">
                <a:solidFill>
                  <a:srgbClr val="16A34A"/>
                </a:solidFill>
                <a:latin typeface="Barlow Semi Condensed"/>
              </a:rPr>
              <a:t>A*</a:t>
            </a:r>
          </a:p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→ action a1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11779" y="1945958"/>
            <a:ext cx="1508760" cy="41148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Agent 2 · </a:t>
            </a:r>
            <a:r>
              <a:rPr sz="900" b="1">
                <a:solidFill>
                  <a:srgbClr val="2563EB"/>
                </a:solidFill>
                <a:latin typeface="Barlow Semi Condensed"/>
              </a:rPr>
              <a:t>UCS</a:t>
            </a:r>
          </a:p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→ action a2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371600" y="1719644"/>
            <a:ext cx="822960" cy="226314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cxnSp>
        <p:nvCxnSpPr>
          <p:cNvPr id="7" name="Connector 6"/>
          <p:cNvCxnSpPr/>
          <p:nvPr/>
        </p:nvCxnSpPr>
        <p:spPr>
          <a:xfrm>
            <a:off x="2743200" y="1719644"/>
            <a:ext cx="822960" cy="226314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8" name="Rounded Rectangle 7"/>
          <p:cNvSpPr/>
          <p:nvPr/>
        </p:nvSpPr>
        <p:spPr>
          <a:xfrm>
            <a:off x="1714500" y="2597468"/>
            <a:ext cx="1508760" cy="37719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 b="1">
                <a:solidFill>
                  <a:srgbClr val="3D3D3D"/>
                </a:solidFill>
                <a:latin typeface="Barlow Semi Condensed"/>
              </a:rPr>
              <a:t>Conflict resolver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2357438"/>
            <a:ext cx="822960" cy="24003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cxnSp>
        <p:nvCxnSpPr>
          <p:cNvPr id="10" name="Connector 9"/>
          <p:cNvCxnSpPr/>
          <p:nvPr/>
        </p:nvCxnSpPr>
        <p:spPr>
          <a:xfrm flipH="1">
            <a:off x="2743200" y="2357438"/>
            <a:ext cx="822960" cy="24003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1" name="Rounded Rectangle 10"/>
          <p:cNvSpPr/>
          <p:nvPr/>
        </p:nvSpPr>
        <p:spPr>
          <a:xfrm>
            <a:off x="1714500" y="3180398"/>
            <a:ext cx="1508760" cy="30861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Apply valid actions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2974658"/>
            <a:ext cx="0" cy="20574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3" name="Rounded Rectangle 12"/>
          <p:cNvSpPr/>
          <p:nvPr/>
        </p:nvSpPr>
        <p:spPr>
          <a:xfrm>
            <a:off x="1714500" y="3660458"/>
            <a:ext cx="1508760" cy="37719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S(t+1) · </a:t>
            </a:r>
            <a:r>
              <a:rPr sz="900" b="1">
                <a:solidFill>
                  <a:srgbClr val="7C3AED"/>
                </a:solidFill>
                <a:latin typeface="Barlow Semi Condensed"/>
              </a:rPr>
              <a:t>ownership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 · score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3489008"/>
            <a:ext cx="0" cy="17145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5" name="Rounded Rectangle 14"/>
          <p:cNvSpPr/>
          <p:nvPr/>
        </p:nvSpPr>
        <p:spPr>
          <a:xfrm>
            <a:off x="4594860" y="1431608"/>
            <a:ext cx="1645920" cy="10835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050" b="1">
                <a:solidFill>
                  <a:srgbClr val="2563EB"/>
                </a:solidFill>
                <a:latin typeface="Barlow Semi Condensed"/>
              </a:rPr>
              <a:t>Conflicts handled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same target cell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swap positions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push into same cell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enter opponent’s cell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94860" y="2597468"/>
            <a:ext cx="164592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050" b="1">
                <a:solidFill>
                  <a:srgbClr val="F59E0B"/>
                </a:solidFill>
                <a:latin typeface="Barlow Semi Condensed"/>
              </a:rPr>
              <a:t>Trade-offs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Blocks a cell the opponent is leaving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Resolved jointly, then applied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52263A84-CB49-B12A-4228-FACBB553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447B0676-C4F7-4155-39D5-D08126F3E6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768" y="2420199"/>
            <a:ext cx="4956464" cy="6034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/>
            <a:r>
              <a:rPr lang="en-US" sz="2400"/>
              <a:t>RQ7: Agent Decision-Making Strategy</a:t>
            </a:r>
            <a:endParaRPr lang="vi-VN" sz="2400"/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21A82556-85AB-857F-6AE0-7AC6D5E7779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28850" y="1513904"/>
            <a:ext cx="2225700" cy="8023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/>
              <a:t>10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68905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>
          <a:extLst>
            <a:ext uri="{FF2B5EF4-FFF2-40B4-BE49-F238E27FC236}">
              <a16:creationId xmlns:a16="http://schemas.microsoft.com/office/drawing/2014/main" id="{D0BBDDB6-0822-227E-338E-62C4A138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40">
            <a:extLst>
              <a:ext uri="{FF2B5EF4-FFF2-40B4-BE49-F238E27FC236}">
                <a16:creationId xmlns:a16="http://schemas.microsoft.com/office/drawing/2014/main" id="{A195821F-0CF6-D7C6-04AE-D978B7B5B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5000" y="578030"/>
            <a:ext cx="4908000" cy="4457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lvl="0"/>
            <a:r>
              <a:rPr lang="en-US"/>
              <a:t>RQ7: Approach &amp; Solution</a:t>
            </a:r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A01B12-1A6B-1237-449A-ADA7D9FD6F6F}"/>
              </a:ext>
            </a:extLst>
          </p:cNvPr>
          <p:cNvGrpSpPr/>
          <p:nvPr/>
        </p:nvGrpSpPr>
        <p:grpSpPr>
          <a:xfrm>
            <a:off x="682161" y="1272454"/>
            <a:ext cx="5212500" cy="1275000"/>
            <a:chOff x="751854" y="3063010"/>
            <a:chExt cx="6950000" cy="1700000"/>
          </a:xfrm>
        </p:grpSpPr>
        <p:sp>
          <p:nvSpPr>
            <p:cNvPr id="12" name="Google Shape;2197;p40">
              <a:extLst>
                <a:ext uri="{FF2B5EF4-FFF2-40B4-BE49-F238E27FC236}">
                  <a16:creationId xmlns:a16="http://schemas.microsoft.com/office/drawing/2014/main" id="{2519E34C-2BCC-CFB5-6059-53A3EA6D7086}"/>
                </a:ext>
              </a:extLst>
            </p:cNvPr>
            <p:cNvSpPr txBox="1">
              <a:spLocks/>
            </p:cNvSpPr>
            <p:nvPr/>
          </p:nvSpPr>
          <p:spPr>
            <a:xfrm>
              <a:off x="751854" y="3063010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How did we approach it?</a:t>
              </a:r>
            </a:p>
          </p:txBody>
        </p:sp>
        <p:sp>
          <p:nvSpPr>
            <p:cNvPr id="16" name="Google Shape;2200;p40">
              <a:extLst>
                <a:ext uri="{FF2B5EF4-FFF2-40B4-BE49-F238E27FC236}">
                  <a16:creationId xmlns:a16="http://schemas.microsoft.com/office/drawing/2014/main" id="{8F754E9E-BE80-F964-29F2-4E14004B8AE8}"/>
                </a:ext>
              </a:extLst>
            </p:cNvPr>
            <p:cNvSpPr txBox="1">
              <a:spLocks/>
            </p:cNvSpPr>
            <p:nvPr/>
          </p:nvSpPr>
          <p:spPr>
            <a:xfrm>
              <a:off x="923683" y="3443010"/>
              <a:ext cx="6778171" cy="13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/>
                <a:t>Each agent </a:t>
              </a:r>
              <a:r>
                <a:rPr lang="en-US" sz="1200" b="1"/>
                <a:t>reuses its search algorithm</a:t>
              </a:r>
              <a:r>
                <a:rPr lang="en-US" sz="1200"/>
                <a:t> to plan a path to </a:t>
              </a:r>
              <a:r>
                <a:rPr lang="en-US" sz="1200" b="1">
                  <a:solidFill>
                    <a:srgbClr val="16A34A"/>
                  </a:solidFill>
                </a:rPr>
                <a:t>+1 point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>
                  <a:solidFill>
                    <a:srgbClr val="7C3AED"/>
                  </a:solidFill>
                </a:rPr>
                <a:t>Receding horizon</a:t>
              </a:r>
              <a:r>
                <a:rPr lang="en-US" sz="1200"/>
                <a:t>: plan → act once → </a:t>
              </a:r>
              <a:r>
                <a:rPr lang="en-US" sz="1200" b="1">
                  <a:solidFill>
                    <a:srgbClr val="7C3AED"/>
                  </a:solidFill>
                </a:rPr>
                <a:t>re-plan</a:t>
              </a:r>
              <a:r>
                <a:rPr lang="en-US" sz="1200"/>
                <a:t> every turn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3E787B8-0783-0F40-9C8E-24FD9D19C04C}"/>
                </a:ext>
              </a:extLst>
            </p:cNvPr>
            <p:cNvCxnSpPr>
              <a:cxnSpLocks/>
            </p:cNvCxnSpPr>
            <p:nvPr/>
          </p:nvCxnSpPr>
          <p:spPr>
            <a:xfrm>
              <a:off x="923683" y="3093688"/>
              <a:ext cx="0" cy="167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E187A36-75A9-3551-39CF-2B0F3C7AD849}"/>
              </a:ext>
            </a:extLst>
          </p:cNvPr>
          <p:cNvGrpSpPr/>
          <p:nvPr/>
        </p:nvGrpSpPr>
        <p:grpSpPr>
          <a:xfrm>
            <a:off x="773109" y="2727938"/>
            <a:ext cx="5212500" cy="1237500"/>
            <a:chOff x="4522157" y="3063010"/>
            <a:chExt cx="6950000" cy="1650000"/>
          </a:xfrm>
        </p:grpSpPr>
        <p:sp>
          <p:nvSpPr>
            <p:cNvPr id="15" name="Google Shape;2197;p40">
              <a:extLst>
                <a:ext uri="{FF2B5EF4-FFF2-40B4-BE49-F238E27FC236}">
                  <a16:creationId xmlns:a16="http://schemas.microsoft.com/office/drawing/2014/main" id="{04700355-F394-78DA-A7FA-53B2B63B0674}"/>
                </a:ext>
              </a:extLst>
            </p:cNvPr>
            <p:cNvSpPr txBox="1">
              <a:spLocks/>
            </p:cNvSpPr>
            <p:nvPr/>
          </p:nvSpPr>
          <p:spPr>
            <a:xfrm>
              <a:off x="4522157" y="3063010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What solution did we implement?</a:t>
              </a:r>
            </a:p>
          </p:txBody>
        </p:sp>
        <p:sp>
          <p:nvSpPr>
            <p:cNvPr id="23" name="Google Shape;2200;p40">
              <a:extLst>
                <a:ext uri="{FF2B5EF4-FFF2-40B4-BE49-F238E27FC236}">
                  <a16:creationId xmlns:a16="http://schemas.microsoft.com/office/drawing/2014/main" id="{AED6E220-52E9-EC65-7A4B-9BAF4DF3D748}"/>
                </a:ext>
              </a:extLst>
            </p:cNvPr>
            <p:cNvSpPr txBox="1">
              <a:spLocks/>
            </p:cNvSpPr>
            <p:nvPr/>
          </p:nvSpPr>
          <p:spPr>
            <a:xfrm>
              <a:off x="4572000" y="3443010"/>
              <a:ext cx="6900157" cy="1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/>
                <a:t>Agent 1 uses </a:t>
              </a:r>
              <a:r>
                <a:rPr lang="en-US" sz="1200" b="1">
                  <a:solidFill>
                    <a:srgbClr val="16A34A"/>
                  </a:solidFill>
                </a:rPr>
                <a:t>A*</a:t>
              </a:r>
              <a:r>
                <a:rPr lang="en-US" sz="1200"/>
                <a:t>, Agent 2 uses </a:t>
              </a:r>
              <a:r>
                <a:rPr lang="en-US" sz="1200" b="1">
                  <a:solidFill>
                    <a:srgbClr val="2563EB"/>
                  </a:solidFill>
                </a:rPr>
                <a:t>UCS</a:t>
              </a:r>
              <a:r>
                <a:rPr lang="en-US" sz="1200"/>
                <a:t>; goal: </a:t>
              </a:r>
              <a:r>
                <a:rPr lang="en-US" sz="1200" b="1">
                  <a:solidFill>
                    <a:srgbClr val="F59E0B"/>
                  </a:solidFill>
                </a:rPr>
                <a:t>own score &gt; current score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/>
                <a:t>Time limit </a:t>
              </a:r>
              <a:r>
                <a:rPr lang="en-US" sz="1200" b="1">
                  <a:solidFill>
                    <a:srgbClr val="F59E0B"/>
                  </a:solidFill>
                </a:rPr>
                <a:t>1000 ms</a:t>
              </a:r>
              <a:r>
                <a:rPr lang="en-US" sz="1200"/>
                <a:t> per agent; take only the </a:t>
              </a:r>
              <a:r>
                <a:rPr lang="en-US" sz="1200" b="1">
                  <a:solidFill>
                    <a:srgbClr val="2563EB"/>
                  </a:solidFill>
                </a:rPr>
                <a:t>first action of the plan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/>
                <a:t>No plan / </a:t>
              </a:r>
              <a:r>
                <a:rPr lang="en-US" sz="1200" b="1">
                  <a:solidFill>
                    <a:srgbClr val="F59E0B"/>
                  </a:solidFill>
                </a:rPr>
                <a:t>timeout</a:t>
              </a:r>
              <a:r>
                <a:rPr lang="vi-VN" sz="1200"/>
                <a:t> </a:t>
              </a:r>
              <a:r>
                <a:rPr lang="en-US" sz="1200"/>
                <a:t>→ </a:t>
              </a:r>
              <a:r>
                <a:rPr lang="en-US" sz="1200" b="1">
                  <a:solidFill>
                    <a:srgbClr val="16A34A"/>
                  </a:solidFill>
                </a:rPr>
                <a:t>Fallback legal move</a:t>
              </a:r>
              <a:r>
                <a:rPr lang="vi-VN" sz="1200"/>
                <a:t> </a:t>
              </a:r>
              <a:r>
                <a:rPr lang="en-US" sz="1200"/>
                <a:t>→ </a:t>
              </a:r>
              <a:r>
                <a:rPr lang="en-US" sz="1200" b="1">
                  <a:solidFill>
                    <a:srgbClr val="DC2626"/>
                  </a:solidFill>
                </a:rPr>
                <a:t>STAY</a:t>
              </a:r>
              <a:r>
                <a:rPr lang="en-US" sz="1200"/>
                <a:t> only if </a:t>
              </a:r>
              <a:r>
                <a:rPr lang="en-US" sz="1200" b="1">
                  <a:solidFill>
                    <a:srgbClr val="F59E0B"/>
                  </a:solidFill>
                </a:rPr>
                <a:t>no move is available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5B65069-536A-BA6C-C463-93CCBFDE0950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3093688"/>
              <a:ext cx="0" cy="162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98612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AI Decision Lanes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68880" y="1431608"/>
            <a:ext cx="1920240" cy="288036"/>
          </a:xfrm>
          <a:prstGeom prst="roundRect">
            <a:avLst>
              <a:gd name="adj" fmla="val 12000"/>
            </a:avLst>
          </a:prstGeom>
          <a:solidFill>
            <a:srgbClr val="77C6FC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>
                <a:solidFill>
                  <a:srgbClr val="3D3D3D"/>
                </a:solidFill>
                <a:latin typeface="Barlow Semi Condensed"/>
              </a:rPr>
              <a:t>Current 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45958"/>
            <a:ext cx="2194560" cy="34290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 w="15875">
            <a:solidFill>
              <a:srgbClr val="2563EB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125" b="1">
                <a:solidFill>
                  <a:srgbClr val="2563EB"/>
                </a:solidFill>
                <a:latin typeface="Barlow Semi Condensed"/>
              </a:rPr>
              <a:t>Agent 1 · A*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26018"/>
            <a:ext cx="2194560" cy="30861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find a path to +1 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37498"/>
            <a:ext cx="2194560" cy="30861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time limit 1000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8978"/>
            <a:ext cx="2194560" cy="30861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take the 1st action only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288858"/>
            <a:ext cx="0" cy="10287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cxnSp>
        <p:nvCxnSpPr>
          <p:cNvPr id="9" name="Connector 8"/>
          <p:cNvCxnSpPr/>
          <p:nvPr/>
        </p:nvCxnSpPr>
        <p:spPr>
          <a:xfrm>
            <a:off x="1920240" y="2734628"/>
            <a:ext cx="0" cy="102869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cxnSp>
        <p:nvCxnSpPr>
          <p:cNvPr id="10" name="Connector 9"/>
          <p:cNvCxnSpPr/>
          <p:nvPr/>
        </p:nvCxnSpPr>
        <p:spPr>
          <a:xfrm>
            <a:off x="1920240" y="3146108"/>
            <a:ext cx="0" cy="10287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cxnSp>
        <p:nvCxnSpPr>
          <p:cNvPr id="11" name="Connector 10"/>
          <p:cNvCxnSpPr/>
          <p:nvPr/>
        </p:nvCxnSpPr>
        <p:spPr>
          <a:xfrm>
            <a:off x="1920240" y="3557588"/>
            <a:ext cx="1371600" cy="17145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2" name="Rounded Rectangle 11"/>
          <p:cNvSpPr/>
          <p:nvPr/>
        </p:nvSpPr>
        <p:spPr>
          <a:xfrm>
            <a:off x="3840480" y="1945958"/>
            <a:ext cx="2194560" cy="3429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125" b="1">
                <a:solidFill>
                  <a:srgbClr val="F59E0B"/>
                </a:solidFill>
                <a:latin typeface="Barlow Semi Condensed"/>
              </a:rPr>
              <a:t>Agent 2 · UCS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426018"/>
            <a:ext cx="2194560" cy="30861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find a path to +1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2837498"/>
            <a:ext cx="2194560" cy="30861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time limit 1000 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248978"/>
            <a:ext cx="2194560" cy="30861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take the 1st action only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37759" y="2288858"/>
            <a:ext cx="0" cy="10287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cxnSp>
        <p:nvCxnSpPr>
          <p:cNvPr id="17" name="Connector 16"/>
          <p:cNvCxnSpPr/>
          <p:nvPr/>
        </p:nvCxnSpPr>
        <p:spPr>
          <a:xfrm>
            <a:off x="4937759" y="2734628"/>
            <a:ext cx="0" cy="102869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cxnSp>
        <p:nvCxnSpPr>
          <p:cNvPr id="18" name="Connector 17"/>
          <p:cNvCxnSpPr/>
          <p:nvPr/>
        </p:nvCxnSpPr>
        <p:spPr>
          <a:xfrm>
            <a:off x="4937759" y="3146108"/>
            <a:ext cx="0" cy="10287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cxnSp>
        <p:nvCxnSpPr>
          <p:cNvPr id="19" name="Connector 18"/>
          <p:cNvCxnSpPr/>
          <p:nvPr/>
        </p:nvCxnSpPr>
        <p:spPr>
          <a:xfrm flipH="1">
            <a:off x="3566161" y="3557588"/>
            <a:ext cx="1371599" cy="17145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cxnSp>
        <p:nvCxnSpPr>
          <p:cNvPr id="20" name="Connector 19"/>
          <p:cNvCxnSpPr/>
          <p:nvPr/>
        </p:nvCxnSpPr>
        <p:spPr>
          <a:xfrm flipH="1">
            <a:off x="1920240" y="1719644"/>
            <a:ext cx="1097280" cy="226314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cxnSp>
        <p:nvCxnSpPr>
          <p:cNvPr id="21" name="Connector 20"/>
          <p:cNvCxnSpPr/>
          <p:nvPr/>
        </p:nvCxnSpPr>
        <p:spPr>
          <a:xfrm>
            <a:off x="3840480" y="1719644"/>
            <a:ext cx="1097280" cy="226314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22" name="Rounded Rectangle 21"/>
          <p:cNvSpPr/>
          <p:nvPr/>
        </p:nvSpPr>
        <p:spPr>
          <a:xfrm>
            <a:off x="2468880" y="3729038"/>
            <a:ext cx="1920240" cy="30861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75" b="1">
                <a:solidFill>
                  <a:srgbClr val="3D3D3D"/>
                </a:solidFill>
                <a:latin typeface="Barlow Semi Condensed"/>
              </a:rPr>
              <a:t>Conflict resolver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" y="3729038"/>
            <a:ext cx="1783080" cy="30861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477797"/>
                </a:solidFill>
                <a:latin typeface="Barlow Semi Condensed"/>
              </a:rPr>
              <a:t>re-plan every turn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7700" y="3729038"/>
            <a:ext cx="1783080" cy="30861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477797"/>
                </a:solidFill>
                <a:latin typeface="Barlow Semi Condensed"/>
              </a:rPr>
              <a:t>timeout → STAY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Pseudocode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7220" y="1465898"/>
            <a:ext cx="3017520" cy="157734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lang="en-US" sz="975" b="1">
                <a:solidFill>
                  <a:srgbClr val="2563EB"/>
                </a:solidFill>
                <a:latin typeface="Consolas"/>
              </a:rPr>
              <a:t>CHOOSE_ACTION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(</a:t>
            </a:r>
            <a:r>
              <a:rPr lang="en-US" sz="975">
                <a:solidFill>
                  <a:srgbClr val="0891B2"/>
                </a:solidFill>
                <a:latin typeface="Consolas"/>
              </a:rPr>
              <a:t>state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, </a:t>
            </a:r>
            <a:r>
              <a:rPr lang="en-US" sz="975">
                <a:solidFill>
                  <a:srgbClr val="0891B2"/>
                </a:solidFill>
                <a:latin typeface="Consolas"/>
              </a:rPr>
              <a:t>agent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):</a:t>
            </a:r>
          </a:p>
          <a:p>
            <a:pPr algn="l"/>
            <a:endParaRPr lang="en-US" sz="975" b="1">
              <a:solidFill>
                <a:srgbClr val="2563EB"/>
              </a:solidFill>
              <a:latin typeface="Consolas"/>
            </a:endParaRPr>
          </a:p>
          <a:p>
            <a:pPr algn="l"/>
            <a:r>
              <a:rPr lang="en-US" sz="975">
                <a:solidFill>
                  <a:srgbClr val="3D3D3D"/>
                </a:solidFill>
                <a:latin typeface="Consolas"/>
              </a:rPr>
              <a:t>    </a:t>
            </a:r>
            <a:r>
              <a:rPr lang="en-US" sz="975">
                <a:solidFill>
                  <a:srgbClr val="0891B2"/>
                </a:solidFill>
                <a:latin typeface="Consolas"/>
              </a:rPr>
              <a:t>plan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75" b="1">
                <a:solidFill>
                  <a:srgbClr val="DB2777"/>
                </a:solidFill>
                <a:latin typeface="Consolas"/>
              </a:rPr>
              <a:t>←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75" b="1">
                <a:solidFill>
                  <a:srgbClr val="2563EB"/>
                </a:solidFill>
                <a:latin typeface="Consolas"/>
              </a:rPr>
              <a:t>Search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(</a:t>
            </a:r>
            <a:r>
              <a:rPr lang="en-US" sz="975">
                <a:solidFill>
                  <a:srgbClr val="0891B2"/>
                </a:solidFill>
                <a:latin typeface="Consolas"/>
              </a:rPr>
              <a:t>state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, </a:t>
            </a:r>
            <a:r>
              <a:rPr lang="en-US" sz="975" b="1">
                <a:solidFill>
                  <a:srgbClr val="DB2777"/>
                </a:solidFill>
                <a:latin typeface="Consolas"/>
              </a:rPr>
              <a:t>1000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 ms)</a:t>
            </a:r>
          </a:p>
          <a:p>
            <a:pPr algn="l"/>
            <a:endParaRPr lang="en-US" sz="975" b="1">
              <a:solidFill>
                <a:srgbClr val="2563EB"/>
              </a:solidFill>
              <a:latin typeface="Consolas"/>
            </a:endParaRPr>
          </a:p>
          <a:p>
            <a:pPr algn="l"/>
            <a:r>
              <a:rPr lang="en-US" sz="975">
                <a:solidFill>
                  <a:srgbClr val="3D3D3D"/>
                </a:solidFill>
                <a:latin typeface="Consolas"/>
              </a:rPr>
              <a:t>    </a:t>
            </a:r>
            <a:r>
              <a:rPr lang="en-US" sz="975" b="1">
                <a:solidFill>
                  <a:srgbClr val="7C3AED"/>
                </a:solidFill>
                <a:latin typeface="Consolas"/>
              </a:rPr>
              <a:t>if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75" b="1">
                <a:solidFill>
                  <a:srgbClr val="F59E0B"/>
                </a:solidFill>
                <a:latin typeface="Consolas"/>
              </a:rPr>
              <a:t>plan found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:</a:t>
            </a:r>
          </a:p>
          <a:p>
            <a:pPr algn="l"/>
            <a:r>
              <a:rPr lang="en-US" sz="975">
                <a:solidFill>
                  <a:srgbClr val="3D3D3D"/>
                </a:solidFill>
                <a:latin typeface="Consolas"/>
              </a:rPr>
              <a:t>        </a:t>
            </a:r>
            <a:r>
              <a:rPr lang="en-US" sz="975" b="1">
                <a:solidFill>
                  <a:srgbClr val="7C3AED"/>
                </a:solidFill>
                <a:latin typeface="Consolas"/>
              </a:rPr>
              <a:t>return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75" b="1">
                <a:solidFill>
                  <a:srgbClr val="16A34A"/>
                </a:solidFill>
                <a:latin typeface="Consolas"/>
              </a:rPr>
              <a:t>first action</a:t>
            </a:r>
          </a:p>
          <a:p>
            <a:pPr algn="l"/>
            <a:endParaRPr lang="en-US" sz="975" b="1">
              <a:solidFill>
                <a:srgbClr val="2563EB"/>
              </a:solidFill>
              <a:latin typeface="Consolas"/>
            </a:endParaRPr>
          </a:p>
          <a:p>
            <a:pPr algn="l"/>
            <a:r>
              <a:rPr lang="en-US" sz="975">
                <a:solidFill>
                  <a:srgbClr val="3D3D3D"/>
                </a:solidFill>
                <a:latin typeface="Consolas"/>
              </a:rPr>
              <a:t>    </a:t>
            </a:r>
            <a:r>
              <a:rPr lang="en-US" sz="975" b="1">
                <a:solidFill>
                  <a:srgbClr val="7C3AED"/>
                </a:solidFill>
                <a:latin typeface="Consolas"/>
              </a:rPr>
              <a:t>return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 </a:t>
            </a:r>
            <a:r>
              <a:rPr lang="en-US" sz="975" b="1">
                <a:solidFill>
                  <a:srgbClr val="2563EB"/>
                </a:solidFill>
                <a:latin typeface="Consolas"/>
              </a:rPr>
              <a:t>FALLBACK_MOVE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(</a:t>
            </a:r>
            <a:r>
              <a:rPr lang="en-US" sz="975">
                <a:solidFill>
                  <a:srgbClr val="0891B2"/>
                </a:solidFill>
                <a:latin typeface="Consolas"/>
              </a:rPr>
              <a:t>state</a:t>
            </a:r>
            <a:r>
              <a:rPr lang="en-US" sz="975">
                <a:solidFill>
                  <a:srgbClr val="3D3D3D"/>
                </a:solidFill>
                <a:latin typeface="Consolas"/>
              </a:rPr>
              <a:t>)</a:t>
            </a:r>
            <a:endParaRPr lang="en-US" sz="975" b="1">
              <a:solidFill>
                <a:srgbClr val="DC2626"/>
              </a:solidFill>
              <a:latin typeface="Consola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7220" y="3180398"/>
            <a:ext cx="3017520" cy="54864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2563EB"/>
                </a:solidFill>
                <a:latin typeface="Barlow Semi Condensed"/>
              </a:rPr>
              <a:t>Receding horizon: </a:t>
            </a:r>
            <a:r>
              <a:rPr sz="1050">
                <a:solidFill>
                  <a:srgbClr val="3D3D3D"/>
                </a:solidFill>
                <a:latin typeface="Barlow Semi Condensed"/>
              </a:rPr>
              <a:t>plan → act once → </a:t>
            </a:r>
            <a:r>
              <a:rPr sz="1050" b="1">
                <a:solidFill>
                  <a:srgbClr val="7C3AED"/>
                </a:solidFill>
                <a:latin typeface="Barlow Semi Condensed"/>
              </a:rPr>
              <a:t>re-plan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71900" y="1465898"/>
            <a:ext cx="2468880" cy="8983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050" b="1">
                <a:solidFill>
                  <a:srgbClr val="16A34A"/>
                </a:solidFill>
                <a:latin typeface="Barlow Semi Condensed"/>
              </a:rPr>
              <a:t>Pros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Reuses </a:t>
            </a:r>
            <a:r>
              <a:rPr sz="900" b="1">
                <a:solidFill>
                  <a:srgbClr val="2563EB"/>
                </a:solidFill>
                <a:latin typeface="Barlow Semi Condensed"/>
              </a:rPr>
              <a:t>UCS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 / </a:t>
            </a:r>
            <a:r>
              <a:rPr sz="900" b="1">
                <a:solidFill>
                  <a:srgbClr val="16A34A"/>
                </a:solidFill>
                <a:latin typeface="Barlow Semi Condensed"/>
              </a:rPr>
              <a:t>A*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 from RQ2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Re-plans as the board changes</a:t>
            </a:r>
          </a:p>
          <a:p>
            <a:pPr rtl="0"/>
            <a:r>
              <a:rPr sz="900" b="1">
                <a:solidFill>
                  <a:srgbClr val="16A34A"/>
                </a:solidFill>
                <a:latin typeface="Barlow Semi Condensed"/>
              </a:rPr>
              <a:t>+</a:t>
            </a:r>
            <a:r>
              <a:rPr lang="en-US" sz="900" b="1">
                <a:solidFill>
                  <a:srgbClr val="16A34A"/>
                </a:solidFill>
                <a:latin typeface="Barlow Semi Condensed"/>
              </a:rPr>
              <a:t> </a:t>
            </a:r>
            <a:r>
              <a:rPr lang="en-US" sz="900" b="0" i="0" u="none" strike="noStrike" baseline="0">
                <a:solidFill>
                  <a:srgbClr val="3D3D3D"/>
                </a:solidFill>
                <a:latin typeface="Barlow Semi Condensed" panose="00000506000000000000" pitchFamily="2" charset="0"/>
              </a:rPr>
              <a:t>Re-plans as the board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71900" y="2432876"/>
            <a:ext cx="2468880" cy="10835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t"/>
          <a:lstStyle/>
          <a:p>
            <a:pPr algn="l"/>
            <a:r>
              <a:rPr sz="1050" b="1">
                <a:solidFill>
                  <a:srgbClr val="F59E0B"/>
                </a:solidFill>
                <a:latin typeface="Barlow Semi Condensed"/>
              </a:rPr>
              <a:t>Cons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Blind to opponent’s plans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 b="1">
                <a:solidFill>
                  <a:srgbClr val="16A34A"/>
                </a:solidFill>
                <a:latin typeface="Barlow Semi Condensed"/>
              </a:rPr>
              <a:t>A*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 h not </a:t>
            </a:r>
            <a:r>
              <a:rPr sz="900" b="1">
                <a:solidFill>
                  <a:srgbClr val="16A34A"/>
                </a:solidFill>
                <a:latin typeface="Barlow Semi Condensed"/>
              </a:rPr>
              <a:t>admissible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 for “</a:t>
            </a:r>
            <a:r>
              <a:rPr sz="900" b="1">
                <a:solidFill>
                  <a:srgbClr val="16A34A"/>
                </a:solidFill>
                <a:latin typeface="Barlow Semi Condensed"/>
              </a:rPr>
              <a:t>+1 point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”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Corner pruning can drop useful states</a:t>
            </a:r>
          </a:p>
          <a:p>
            <a:pPr>
              <a:spcBef>
                <a:spcPts val="225"/>
              </a:spcBef>
            </a:pPr>
            <a:r>
              <a:rPr sz="900" b="1">
                <a:solidFill>
                  <a:srgbClr val="F59E0B"/>
                </a:solidFill>
                <a:latin typeface="Barlow Semi Condensed"/>
              </a:rPr>
              <a:t>– 1000 ms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 is per agent, not per turn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0EA85880-95C2-112A-45B8-417BCD43B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CCAAD670-1056-1EC4-15AF-6892644BA4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768" y="2420199"/>
            <a:ext cx="4956464" cy="6034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/>
            <a:r>
              <a:rPr lang="en-US" sz="2400"/>
              <a:t>RQ8: Competitive Game Implementation</a:t>
            </a:r>
            <a:endParaRPr lang="vi-VN" sz="2400"/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E8914AC3-CB38-F1B5-0D1B-969C54DDD78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28850" y="1513904"/>
            <a:ext cx="2225700" cy="8023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/>
              <a:t>11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804120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>
          <a:extLst>
            <a:ext uri="{FF2B5EF4-FFF2-40B4-BE49-F238E27FC236}">
              <a16:creationId xmlns:a16="http://schemas.microsoft.com/office/drawing/2014/main" id="{D0BBDDB6-0822-227E-338E-62C4A138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40">
            <a:extLst>
              <a:ext uri="{FF2B5EF4-FFF2-40B4-BE49-F238E27FC236}">
                <a16:creationId xmlns:a16="http://schemas.microsoft.com/office/drawing/2014/main" id="{A195821F-0CF6-D7C6-04AE-D978B7B5B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5000" y="612666"/>
            <a:ext cx="4908000" cy="4457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lvl="0"/>
            <a:r>
              <a:rPr lang="en-US"/>
              <a:t>RQ8: Approach &amp; Solution</a:t>
            </a:r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A01B12-1A6B-1237-449A-ADA7D9FD6F6F}"/>
              </a:ext>
            </a:extLst>
          </p:cNvPr>
          <p:cNvGrpSpPr/>
          <p:nvPr/>
        </p:nvGrpSpPr>
        <p:grpSpPr>
          <a:xfrm>
            <a:off x="811034" y="1272455"/>
            <a:ext cx="5242956" cy="1275509"/>
            <a:chOff x="923683" y="3063010"/>
            <a:chExt cx="6990607" cy="1700678"/>
          </a:xfrm>
        </p:grpSpPr>
        <p:sp>
          <p:nvSpPr>
            <p:cNvPr id="12" name="Google Shape;2197;p40">
              <a:extLst>
                <a:ext uri="{FF2B5EF4-FFF2-40B4-BE49-F238E27FC236}">
                  <a16:creationId xmlns:a16="http://schemas.microsoft.com/office/drawing/2014/main" id="{2519E34C-2BCC-CFB5-6059-53A3EA6D7086}"/>
                </a:ext>
              </a:extLst>
            </p:cNvPr>
            <p:cNvSpPr txBox="1">
              <a:spLocks/>
            </p:cNvSpPr>
            <p:nvPr/>
          </p:nvSpPr>
          <p:spPr>
            <a:xfrm>
              <a:off x="964290" y="3063010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How did we approach it?</a:t>
              </a:r>
            </a:p>
          </p:txBody>
        </p:sp>
        <p:sp>
          <p:nvSpPr>
            <p:cNvPr id="16" name="Google Shape;2200;p40">
              <a:extLst>
                <a:ext uri="{FF2B5EF4-FFF2-40B4-BE49-F238E27FC236}">
                  <a16:creationId xmlns:a16="http://schemas.microsoft.com/office/drawing/2014/main" id="{8F754E9E-BE80-F964-29F2-4E14004B8AE8}"/>
                </a:ext>
              </a:extLst>
            </p:cNvPr>
            <p:cNvSpPr txBox="1">
              <a:spLocks/>
            </p:cNvSpPr>
            <p:nvPr/>
          </p:nvSpPr>
          <p:spPr>
            <a:xfrm>
              <a:off x="923683" y="3443010"/>
              <a:ext cx="6778171" cy="13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 b="1"/>
                <a:t>Simulate the whole match first</a:t>
              </a:r>
              <a:r>
                <a:rPr lang="en-US" sz="1200"/>
                <a:t>, then </a:t>
              </a:r>
              <a:r>
                <a:rPr lang="en-US" sz="1200" b="1">
                  <a:solidFill>
                    <a:srgbClr val="16A34A"/>
                  </a:solidFill>
                </a:rPr>
                <a:t>replay</a:t>
              </a:r>
              <a:r>
                <a:rPr lang="en-US" sz="1200"/>
                <a:t> it in the </a:t>
              </a:r>
              <a:r>
                <a:rPr lang="en-US" sz="1200" b="1">
                  <a:solidFill>
                    <a:srgbClr val="2563EB"/>
                  </a:solidFill>
                </a:rPr>
                <a:t>GUI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/>
                <a:t>Keep each agent in its </a:t>
              </a:r>
              <a:r>
                <a:rPr lang="en-US" sz="1200" b="1">
                  <a:solidFill>
                    <a:srgbClr val="2563EB"/>
                  </a:solidFill>
                </a:rPr>
                <a:t>own file</a:t>
              </a:r>
              <a:r>
                <a:rPr lang="en-US" sz="1200"/>
                <a:t> so agents are </a:t>
              </a:r>
              <a:r>
                <a:rPr lang="en-US" sz="1200" b="1">
                  <a:solidFill>
                    <a:srgbClr val="16A34A"/>
                  </a:solidFill>
                </a:rPr>
                <a:t>easy to swap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3E787B8-0783-0F40-9C8E-24FD9D19C04C}"/>
                </a:ext>
              </a:extLst>
            </p:cNvPr>
            <p:cNvCxnSpPr>
              <a:cxnSpLocks/>
            </p:cNvCxnSpPr>
            <p:nvPr/>
          </p:nvCxnSpPr>
          <p:spPr>
            <a:xfrm>
              <a:off x="923683" y="3093688"/>
              <a:ext cx="0" cy="167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E187A36-75A9-3551-39CF-2B0F3C7AD849}"/>
              </a:ext>
            </a:extLst>
          </p:cNvPr>
          <p:cNvGrpSpPr/>
          <p:nvPr/>
        </p:nvGrpSpPr>
        <p:grpSpPr>
          <a:xfrm>
            <a:off x="773109" y="2727938"/>
            <a:ext cx="5212500" cy="1237500"/>
            <a:chOff x="4522157" y="3063010"/>
            <a:chExt cx="6950000" cy="1650000"/>
          </a:xfrm>
        </p:grpSpPr>
        <p:sp>
          <p:nvSpPr>
            <p:cNvPr id="15" name="Google Shape;2197;p40">
              <a:extLst>
                <a:ext uri="{FF2B5EF4-FFF2-40B4-BE49-F238E27FC236}">
                  <a16:creationId xmlns:a16="http://schemas.microsoft.com/office/drawing/2014/main" id="{04700355-F394-78DA-A7FA-53B2B63B0674}"/>
                </a:ext>
              </a:extLst>
            </p:cNvPr>
            <p:cNvSpPr txBox="1">
              <a:spLocks/>
            </p:cNvSpPr>
            <p:nvPr/>
          </p:nvSpPr>
          <p:spPr>
            <a:xfrm>
              <a:off x="4522157" y="3063010"/>
              <a:ext cx="6950000" cy="3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 spc="0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US" sz="1500" b="1"/>
                <a:t>What solution did we implement?</a:t>
              </a:r>
            </a:p>
          </p:txBody>
        </p:sp>
        <p:sp>
          <p:nvSpPr>
            <p:cNvPr id="23" name="Google Shape;2200;p40">
              <a:extLst>
                <a:ext uri="{FF2B5EF4-FFF2-40B4-BE49-F238E27FC236}">
                  <a16:creationId xmlns:a16="http://schemas.microsoft.com/office/drawing/2014/main" id="{AED6E220-52E9-EC65-7A4B-9BAF4DF3D748}"/>
                </a:ext>
              </a:extLst>
            </p:cNvPr>
            <p:cNvSpPr txBox="1">
              <a:spLocks/>
            </p:cNvSpPr>
            <p:nvPr/>
          </p:nvSpPr>
          <p:spPr>
            <a:xfrm>
              <a:off x="4572000" y="3443010"/>
              <a:ext cx="6900157" cy="1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600" b="0" i="0" u="none" strike="noStrike" cap="none" spc="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050" b="1">
                  <a:solidFill>
                    <a:srgbClr val="4B5563"/>
                  </a:solidFill>
                  <a:latin typeface="Consolas"/>
                </a:rPr>
                <a:t>CompetitiveMain.run(state, n)</a:t>
              </a:r>
              <a:r>
                <a:rPr lang="en-US" sz="1200"/>
                <a:t>: for n steps both agents choose an action, applied jointly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/>
                <a:t>The </a:t>
              </a:r>
              <a:r>
                <a:rPr lang="en-US" sz="1200" b="1">
                  <a:solidFill>
                    <a:srgbClr val="7C3AED"/>
                  </a:solidFill>
                </a:rPr>
                <a:t>action list</a:t>
              </a:r>
              <a:r>
                <a:rPr lang="en-US" sz="1200"/>
                <a:t> is </a:t>
              </a:r>
              <a:r>
                <a:rPr lang="en-US" sz="1200" b="1">
                  <a:solidFill>
                    <a:srgbClr val="16A34A"/>
                  </a:solidFill>
                </a:rPr>
                <a:t>replayed</a:t>
              </a:r>
              <a:r>
                <a:rPr lang="en-US" sz="1200"/>
                <a:t> step by step; </a:t>
              </a:r>
              <a:r>
                <a:rPr lang="en-US" sz="1200" b="1">
                  <a:solidFill>
                    <a:srgbClr val="7C3AED"/>
                  </a:solidFill>
                </a:rPr>
                <a:t>box colour = owner</a:t>
              </a:r>
            </a:p>
            <a:p>
              <a:pPr marL="171450" indent="-171450" algn="l">
                <a:spcAft>
                  <a:spcPts val="450"/>
                </a:spcAft>
                <a:buClr>
                  <a:srgbClr val="7DC8F7"/>
                </a:buClr>
                <a:buFont typeface="Arial"/>
                <a:buChar char="•"/>
              </a:pPr>
              <a:r>
                <a:rPr lang="en-US" sz="1200"/>
                <a:t>Final score decides the </a:t>
              </a:r>
              <a:r>
                <a:rPr lang="en-US" sz="1200" b="1">
                  <a:solidFill>
                    <a:srgbClr val="16A34A"/>
                  </a:solidFill>
                </a:rPr>
                <a:t>winner</a:t>
              </a:r>
              <a:r>
                <a:rPr lang="en-US" sz="1200"/>
                <a:t>, or a </a:t>
              </a:r>
              <a:r>
                <a:rPr lang="en-US" sz="1200" b="1">
                  <a:solidFill>
                    <a:srgbClr val="F59E0B"/>
                  </a:solidFill>
                </a:rPr>
                <a:t>draw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5B65069-536A-BA6C-C463-93CCBFDE0950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3093688"/>
              <a:ext cx="0" cy="162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98612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GUI &amp;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74770" y="1465898"/>
            <a:ext cx="2366010" cy="48006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l"/>
            <a:r>
              <a:rPr sz="1050" b="1">
                <a:solidFill>
                  <a:srgbClr val="2563EB"/>
                </a:solidFill>
                <a:latin typeface="Barlow Semi Condensed"/>
              </a:rPr>
              <a:t>Input  </a:t>
            </a:r>
            <a:r>
              <a:rPr sz="1050">
                <a:solidFill>
                  <a:srgbClr val="3D3D3D"/>
                </a:solidFill>
                <a:latin typeface="Barlow Semi Condensed"/>
              </a:rPr>
              <a:t>n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74770" y="2069402"/>
            <a:ext cx="2366010" cy="48006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l"/>
            <a:r>
              <a:rPr sz="1050" b="1">
                <a:solidFill>
                  <a:srgbClr val="2563EB"/>
                </a:solidFill>
                <a:latin typeface="Barlow Semi Condensed"/>
              </a:rPr>
              <a:t>Colours  </a:t>
            </a:r>
            <a:r>
              <a:rPr sz="1050" b="1">
                <a:solidFill>
                  <a:srgbClr val="7C3AED"/>
                </a:solidFill>
                <a:latin typeface="Barlow Semi Condensed"/>
              </a:rPr>
              <a:t>box colour = owner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74770" y="2672906"/>
            <a:ext cx="2366010" cy="480060"/>
          </a:xfrm>
          <a:prstGeom prst="roundRect">
            <a:avLst>
              <a:gd name="adj" fmla="val 12000"/>
            </a:avLst>
          </a:prstGeom>
          <a:solidFill>
            <a:srgbClr val="D6EEFE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l"/>
            <a:r>
              <a:rPr sz="1050" b="1">
                <a:solidFill>
                  <a:srgbClr val="2563EB"/>
                </a:solidFill>
                <a:latin typeface="Barlow Semi Condensed"/>
              </a:rPr>
              <a:t>Result  </a:t>
            </a:r>
            <a:r>
              <a:rPr sz="1050" b="1">
                <a:solidFill>
                  <a:srgbClr val="16A34A"/>
                </a:solidFill>
                <a:latin typeface="Barlow Semi Condensed"/>
              </a:rPr>
              <a:t>winner</a:t>
            </a:r>
            <a:r>
              <a:rPr sz="1050">
                <a:solidFill>
                  <a:srgbClr val="3D3D3D"/>
                </a:solidFill>
                <a:latin typeface="Barlow Semi Condensed"/>
              </a:rPr>
              <a:t> / </a:t>
            </a:r>
            <a:r>
              <a:rPr sz="1050" b="1">
                <a:solidFill>
                  <a:srgbClr val="F59E0B"/>
                </a:solidFill>
                <a:latin typeface="Barlow Semi Condensed"/>
              </a:rPr>
              <a:t>draw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" y="3386138"/>
            <a:ext cx="1028700" cy="34290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Choose map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45920" y="3557588"/>
            <a:ext cx="123444" cy="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9" name="Rounded Rectangle 8"/>
          <p:cNvSpPr/>
          <p:nvPr/>
        </p:nvSpPr>
        <p:spPr>
          <a:xfrm>
            <a:off x="1769364" y="3386138"/>
            <a:ext cx="1028700" cy="34290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Enter 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98064" y="3557588"/>
            <a:ext cx="123444" cy="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1" name="Rounded Rectangle 10"/>
          <p:cNvSpPr/>
          <p:nvPr/>
        </p:nvSpPr>
        <p:spPr>
          <a:xfrm>
            <a:off x="2921508" y="3386138"/>
            <a:ext cx="1028700" cy="34290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Run both agents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50208" y="3557588"/>
            <a:ext cx="123444" cy="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3" name="Rounded Rectangle 12"/>
          <p:cNvSpPr/>
          <p:nvPr/>
        </p:nvSpPr>
        <p:spPr>
          <a:xfrm>
            <a:off x="4073652" y="3386138"/>
            <a:ext cx="1028700" cy="34290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Replay steps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02352" y="3557588"/>
            <a:ext cx="123444" cy="0"/>
          </a:xfrm>
          <a:prstGeom prst="line">
            <a:avLst/>
          </a:prstGeom>
          <a:ln w="22225">
            <a:solidFill>
              <a:srgbClr val="477797"/>
            </a:solidFill>
            <a:tailEnd type="triangle"/>
          </a:ln>
        </p:spPr>
      </p:cxnSp>
      <p:sp>
        <p:nvSpPr>
          <p:cNvPr id="15" name="Rounded Rectangle 14"/>
          <p:cNvSpPr/>
          <p:nvPr/>
        </p:nvSpPr>
        <p:spPr>
          <a:xfrm>
            <a:off x="5225796" y="3386138"/>
            <a:ext cx="1028700" cy="34290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7C6FC"/>
            </a:solidFill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3D3D3D"/>
                </a:solidFill>
                <a:latin typeface="Barlow Semi Condensed"/>
              </a:rPr>
              <a:t>Show </a:t>
            </a:r>
            <a:r>
              <a:rPr sz="900" b="1">
                <a:solidFill>
                  <a:srgbClr val="16A34A"/>
                </a:solidFill>
                <a:latin typeface="Barlow Semi Condensed"/>
              </a:rPr>
              <a:t>winner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1" y="3797618"/>
            <a:ext cx="5623559" cy="3429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wrap="square" lIns="54864" tIns="27432" rIns="54864" bIns="27432" rtlCol="0" anchor="ctr"/>
          <a:lstStyle/>
          <a:p>
            <a:pPr algn="l"/>
            <a:r>
              <a:rPr sz="900" b="1">
                <a:solidFill>
                  <a:srgbClr val="16A34A"/>
                </a:solidFill>
                <a:latin typeface="Barlow Semi Condensed"/>
              </a:rPr>
              <a:t>+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Agents in separate files → </a:t>
            </a:r>
            <a:r>
              <a:rPr sz="900" b="1">
                <a:solidFill>
                  <a:srgbClr val="16A34A"/>
                </a:solidFill>
                <a:latin typeface="Barlow Semi Condensed"/>
              </a:rPr>
              <a:t>easy to swap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   </a:t>
            </a:r>
            <a:r>
              <a:rPr sz="900" b="1">
                <a:solidFill>
                  <a:srgbClr val="F59E0B"/>
                </a:solidFill>
                <a:latin typeface="Barlow Semi Condensed"/>
              </a:rPr>
              <a:t>– </a:t>
            </a:r>
            <a:r>
              <a:rPr sz="900">
                <a:solidFill>
                  <a:srgbClr val="3D3D3D"/>
                </a:solidFill>
                <a:latin typeface="Barlow Semi Condensed"/>
              </a:rPr>
              <a:t>Match simulated first, then </a:t>
            </a:r>
            <a:r>
              <a:rPr sz="900" b="1">
                <a:solidFill>
                  <a:srgbClr val="16A34A"/>
                </a:solidFill>
                <a:latin typeface="Barlow Semi Condensed"/>
              </a:rPr>
              <a:t>replayed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88BE207-1F0D-F5AA-7B3F-77319E012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83" y="1273829"/>
            <a:ext cx="3002663" cy="204372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E5C45D56-97CE-E8A2-C541-BE83A3DF4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2F98235C-04D6-2455-EA40-B40B01AA3F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768" y="2420199"/>
            <a:ext cx="4956464" cy="6034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/>
            <a:r>
              <a:rPr lang="en-US" sz="2400"/>
              <a:t>Task Completion Summary</a:t>
            </a:r>
            <a:endParaRPr lang="vi-VN" sz="2400"/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85652F1B-EA18-0160-7618-27DD125E302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28850" y="1513904"/>
            <a:ext cx="2225700" cy="8023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"/>
              <a:t>12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641714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Coverage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546945"/>
              </p:ext>
            </p:extLst>
          </p:nvPr>
        </p:nvGraphicFramePr>
        <p:xfrm>
          <a:off x="617220" y="1431608"/>
          <a:ext cx="5623560" cy="2530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17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Barlow Semi Condensed"/>
                        </a:rPr>
                        <a:t>RQ</a:t>
                      </a:r>
                    </a:p>
                  </a:txBody>
                  <a:tcPr marL="68580" marR="68580" marT="13716" marB="13716" anchor="ctr">
                    <a:solidFill>
                      <a:srgbClr val="4777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Barlow Semi Condensed"/>
                        </a:rPr>
                        <a:t>Solution</a:t>
                      </a:r>
                    </a:p>
                  </a:txBody>
                  <a:tcPr marL="68580" marR="68580" marT="13716" marB="13716" anchor="ctr">
                    <a:solidFill>
                      <a:srgbClr val="4777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Barlow Semi Condensed"/>
                        </a:rPr>
                        <a:t>Note</a:t>
                      </a:r>
                    </a:p>
                  </a:txBody>
                  <a:tcPr marL="68580" marR="68580" marT="13716" marB="13716" anchor="ctr">
                    <a:solidFill>
                      <a:srgbClr val="4777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17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1</a:t>
                      </a:r>
                    </a:p>
                  </a:txBody>
                  <a:tcPr marL="68580" marR="68580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563EB"/>
                          </a:solidFill>
                          <a:latin typeface="Barlow Semi Condensed"/>
                        </a:rPr>
                        <a:t>State-space</a:t>
                      </a:r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 model</a:t>
                      </a:r>
                    </a:p>
                  </a:txBody>
                  <a:tcPr marL="68580" marR="68580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A34A"/>
                          </a:solidFill>
                          <a:latin typeface="Barlow Semi Condensed"/>
                        </a:rPr>
                        <a:t>Complete</a:t>
                      </a:r>
                    </a:p>
                  </a:txBody>
                  <a:tcPr marL="68580" marR="68580" marT="13716" marB="13716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17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2</a:t>
                      </a:r>
                    </a:p>
                  </a:txBody>
                  <a:tcPr marL="68580" marR="6858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563EB"/>
                          </a:solidFill>
                          <a:latin typeface="Barlow Semi Condensed"/>
                        </a:rPr>
                        <a:t>UCS</a:t>
                      </a:r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 + </a:t>
                      </a:r>
                      <a:r>
                        <a:rPr sz="1000" b="1">
                          <a:solidFill>
                            <a:srgbClr val="16A34A"/>
                          </a:solidFill>
                          <a:latin typeface="Barlow Semi Condensed"/>
                        </a:rPr>
                        <a:t>A*</a:t>
                      </a:r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 with custom </a:t>
                      </a:r>
                      <a:r>
                        <a:rPr sz="1000" b="1">
                          <a:solidFill>
                            <a:srgbClr val="F59E0B"/>
                          </a:solidFill>
                          <a:latin typeface="Barlow Semi Condensed"/>
                        </a:rPr>
                        <a:t>heuristic</a:t>
                      </a:r>
                    </a:p>
                  </a:txBody>
                  <a:tcPr marL="68580" marR="6858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A34A"/>
                          </a:solidFill>
                          <a:latin typeface="Barlow Semi Condensed"/>
                        </a:rPr>
                        <a:t>Complete</a:t>
                      </a:r>
                    </a:p>
                  </a:txBody>
                  <a:tcPr marL="68580" marR="6858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7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3</a:t>
                      </a:r>
                    </a:p>
                  </a:txBody>
                  <a:tcPr marL="68580" marR="68580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Time / memory / nodes / frontier</a:t>
                      </a:r>
                    </a:p>
                  </a:txBody>
                  <a:tcPr marL="68580" marR="68580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16A34A"/>
                          </a:solidFill>
                          <a:latin typeface="Barlow Semi Condensed"/>
                        </a:rPr>
                        <a:t>Complete</a:t>
                      </a:r>
                      <a:endParaRPr sz="1000" b="0">
                        <a:solidFill>
                          <a:srgbClr val="F59E0B"/>
                        </a:solidFill>
                        <a:latin typeface="Barlow Semi Condensed"/>
                      </a:endParaRPr>
                    </a:p>
                  </a:txBody>
                  <a:tcPr marL="68580" marR="68580" marT="13716" marB="13716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17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4</a:t>
                      </a:r>
                    </a:p>
                  </a:txBody>
                  <a:tcPr marL="68580" marR="6858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Proofs + </a:t>
                      </a:r>
                      <a:r>
                        <a:rPr sz="1000" b="1">
                          <a:solidFill>
                            <a:srgbClr val="7C3AED"/>
                          </a:solidFill>
                          <a:latin typeface="Barlow Semi Condensed"/>
                        </a:rPr>
                        <a:t>BFS</a:t>
                      </a:r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/</a:t>
                      </a:r>
                      <a:r>
                        <a:rPr sz="1000" b="1">
                          <a:solidFill>
                            <a:srgbClr val="2563EB"/>
                          </a:solidFill>
                          <a:latin typeface="Barlow Semi Condensed"/>
                        </a:rPr>
                        <a:t>UCS</a:t>
                      </a:r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 sampling</a:t>
                      </a:r>
                    </a:p>
                  </a:txBody>
                  <a:tcPr marL="68580" marR="6858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16A34A"/>
                          </a:solidFill>
                          <a:latin typeface="Barlow Semi Condensed"/>
                        </a:rPr>
                        <a:t>Complete</a:t>
                      </a:r>
                      <a:endParaRPr sz="1000" b="0">
                        <a:solidFill>
                          <a:srgbClr val="F59E0B"/>
                        </a:solidFill>
                        <a:latin typeface="Barlow Semi Condensed"/>
                      </a:endParaRPr>
                    </a:p>
                  </a:txBody>
                  <a:tcPr marL="68580" marR="6858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17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5</a:t>
                      </a:r>
                    </a:p>
                  </a:txBody>
                  <a:tcPr marL="68580" marR="68580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3AED"/>
                          </a:solidFill>
                          <a:latin typeface="Barlow Semi Condensed"/>
                        </a:rPr>
                        <a:t>pygame</a:t>
                      </a:r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 </a:t>
                      </a:r>
                      <a:r>
                        <a:rPr sz="1000" b="1">
                          <a:solidFill>
                            <a:srgbClr val="2563EB"/>
                          </a:solidFill>
                          <a:latin typeface="Barlow Semi Condensed"/>
                        </a:rPr>
                        <a:t>GUI</a:t>
                      </a:r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, </a:t>
                      </a:r>
                      <a:r>
                        <a:rPr sz="1000" b="1">
                          <a:solidFill>
                            <a:srgbClr val="2563EB"/>
                          </a:solidFill>
                          <a:latin typeface="Barlow Semi Condensed"/>
                        </a:rPr>
                        <a:t>OOP</a:t>
                      </a:r>
                    </a:p>
                  </a:txBody>
                  <a:tcPr marL="68580" marR="68580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A34A"/>
                          </a:solidFill>
                          <a:latin typeface="Barlow Semi Condensed"/>
                        </a:rPr>
                        <a:t>Complete</a:t>
                      </a:r>
                    </a:p>
                  </a:txBody>
                  <a:tcPr marL="68580" marR="68580" marT="13716" marB="13716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17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6</a:t>
                      </a:r>
                    </a:p>
                  </a:txBody>
                  <a:tcPr marL="68580" marR="6858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2-agent state + </a:t>
                      </a:r>
                      <a:r>
                        <a:rPr sz="1000" b="1">
                          <a:solidFill>
                            <a:srgbClr val="7C3AED"/>
                          </a:solidFill>
                          <a:latin typeface="Barlow Semi Condensed"/>
                        </a:rPr>
                        <a:t>conflict</a:t>
                      </a:r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 resolver</a:t>
                      </a:r>
                    </a:p>
                  </a:txBody>
                  <a:tcPr marL="68580" marR="6858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A34A"/>
                          </a:solidFill>
                          <a:latin typeface="Barlow Semi Condensed"/>
                        </a:rPr>
                        <a:t>Complete</a:t>
                      </a:r>
                    </a:p>
                  </a:txBody>
                  <a:tcPr marL="68580" marR="6858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17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7</a:t>
                      </a:r>
                    </a:p>
                  </a:txBody>
                  <a:tcPr marL="68580" marR="68580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A34A"/>
                          </a:solidFill>
                          <a:latin typeface="Barlow Semi Condensed"/>
                        </a:rPr>
                        <a:t>A*</a:t>
                      </a:r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 vs </a:t>
                      </a:r>
                      <a:r>
                        <a:rPr sz="1000" b="1">
                          <a:solidFill>
                            <a:srgbClr val="2563EB"/>
                          </a:solidFill>
                          <a:latin typeface="Barlow Semi Condensed"/>
                        </a:rPr>
                        <a:t>UCS</a:t>
                      </a:r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, </a:t>
                      </a:r>
                      <a:r>
                        <a:rPr sz="1000" b="1">
                          <a:solidFill>
                            <a:srgbClr val="7C3AED"/>
                          </a:solidFill>
                          <a:latin typeface="Barlow Semi Condensed"/>
                        </a:rPr>
                        <a:t>re-plan</a:t>
                      </a:r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, </a:t>
                      </a:r>
                      <a:r>
                        <a:rPr sz="1000" b="1">
                          <a:solidFill>
                            <a:srgbClr val="F59E0B"/>
                          </a:solidFill>
                          <a:latin typeface="Barlow Semi Condensed"/>
                        </a:rPr>
                        <a:t>1000 ms</a:t>
                      </a:r>
                    </a:p>
                  </a:txBody>
                  <a:tcPr marL="68580" marR="68580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16A34A"/>
                          </a:solidFill>
                          <a:latin typeface="Barlow Semi Condensed"/>
                        </a:rPr>
                        <a:t>Complete</a:t>
                      </a:r>
                      <a:endParaRPr sz="1000" b="0">
                        <a:solidFill>
                          <a:srgbClr val="F59E0B"/>
                        </a:solidFill>
                        <a:latin typeface="Barlow Semi Condensed"/>
                      </a:endParaRPr>
                    </a:p>
                  </a:txBody>
                  <a:tcPr marL="68580" marR="68580" marT="13716" marB="13716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17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8</a:t>
                      </a:r>
                    </a:p>
                  </a:txBody>
                  <a:tcPr marL="68580" marR="6858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Competitive </a:t>
                      </a:r>
                      <a:r>
                        <a:rPr sz="1000" b="1">
                          <a:solidFill>
                            <a:srgbClr val="2563EB"/>
                          </a:solidFill>
                          <a:latin typeface="Barlow Semi Condensed"/>
                        </a:rPr>
                        <a:t>GUI</a:t>
                      </a:r>
                      <a:r>
                        <a:rPr sz="1000" b="0">
                          <a:solidFill>
                            <a:srgbClr val="3D3D3D"/>
                          </a:solidFill>
                          <a:latin typeface="Barlow Semi Condensed"/>
                        </a:rPr>
                        <a:t> + separate agents</a:t>
                      </a:r>
                    </a:p>
                  </a:txBody>
                  <a:tcPr marL="68580" marR="6858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A34A"/>
                          </a:solidFill>
                          <a:latin typeface="Barlow Semi Condensed"/>
                        </a:rPr>
                        <a:t>Complete</a:t>
                      </a:r>
                    </a:p>
                  </a:txBody>
                  <a:tcPr marL="68580" marR="6858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5" name="Google Shape;3605;p63"/>
          <p:cNvSpPr txBox="1">
            <a:spLocks noGrp="1"/>
          </p:cNvSpPr>
          <p:nvPr>
            <p:ph type="title"/>
          </p:nvPr>
        </p:nvSpPr>
        <p:spPr>
          <a:xfrm>
            <a:off x="1577363" y="2167088"/>
            <a:ext cx="3703275" cy="8093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" sz="5400"/>
              <a:t>Thanks!</a:t>
            </a:r>
            <a:endParaRPr sz="5400"/>
          </a:p>
        </p:txBody>
      </p:sp>
      <p:sp>
        <p:nvSpPr>
          <p:cNvPr id="3607" name="Google Shape;3607;p63"/>
          <p:cNvSpPr txBox="1">
            <a:spLocks noGrp="1"/>
          </p:cNvSpPr>
          <p:nvPr>
            <p:ph type="subTitle" idx="4294967295"/>
          </p:nvPr>
        </p:nvSpPr>
        <p:spPr>
          <a:xfrm>
            <a:off x="2005238" y="3817894"/>
            <a:ext cx="2844900" cy="253800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algn="ctr"/>
            <a:r>
              <a:rPr lang="en" sz="825">
                <a:latin typeface="Barlow Semi Condensed"/>
                <a:ea typeface="Barlow Semi Condensed"/>
                <a:cs typeface="Barlow Semi Condensed"/>
                <a:sym typeface="Barlow Semi Condensed"/>
              </a:rPr>
              <a:t>Please keep this slide for attribution</a:t>
            </a:r>
            <a:endParaRPr sz="825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336EB7-D95F-A544-6057-2AF563A1F73D}"/>
              </a:ext>
            </a:extLst>
          </p:cNvPr>
          <p:cNvSpPr/>
          <p:nvPr/>
        </p:nvSpPr>
        <p:spPr>
          <a:xfrm>
            <a:off x="1740478" y="3349769"/>
            <a:ext cx="3226377" cy="862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2675</Words>
  <Application>Microsoft Office PowerPoint</Application>
  <PresentationFormat>Custom</PresentationFormat>
  <Paragraphs>479</Paragraphs>
  <Slides>46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Consolas</vt:lpstr>
      <vt:lpstr>Barlow Semi Condensed Medium</vt:lpstr>
      <vt:lpstr>Fjalla One</vt:lpstr>
      <vt:lpstr>Arial</vt:lpstr>
      <vt:lpstr>Barlow Semi Condensed</vt:lpstr>
      <vt:lpstr>Technology Consulting by Slidesgo</vt:lpstr>
      <vt:lpstr>Sokoban – State-Space Search  &amp; Competitive Agents</vt:lpstr>
      <vt:lpstr>Team Members &amp; Task Assignment</vt:lpstr>
      <vt:lpstr>Team Members</vt:lpstr>
      <vt:lpstr>Task Assignment</vt:lpstr>
      <vt:lpstr>Problem Overview</vt:lpstr>
      <vt:lpstr>Problem Overview</vt:lpstr>
      <vt:lpstr>Problem Overview</vt:lpstr>
      <vt:lpstr>RQ1: State-Space Formulation</vt:lpstr>
      <vt:lpstr>RQ1: Approach &amp; Solution</vt:lpstr>
      <vt:lpstr>State-Space Formulation</vt:lpstr>
      <vt:lpstr>State-Space Formulation</vt:lpstr>
      <vt:lpstr>Transition Logic</vt:lpstr>
      <vt:lpstr>RQ2: Search Algorithms  UCS &amp; A*</vt:lpstr>
      <vt:lpstr>RQ2: Approach &amp; Solution</vt:lpstr>
      <vt:lpstr>UCS vs A*</vt:lpstr>
      <vt:lpstr>Search Pseudocode</vt:lpstr>
      <vt:lpstr>Heuristic Function for A*</vt:lpstr>
      <vt:lpstr>Heuristic: Approach &amp; Solution</vt:lpstr>
      <vt:lpstr>Our Heuristic</vt:lpstr>
      <vt:lpstr>Heuristic Pseudocode</vt:lpstr>
      <vt:lpstr>RQ3: Time &amp; Space Complexity Analysis</vt:lpstr>
      <vt:lpstr>RQ3: Approach &amp; Solution</vt:lpstr>
      <vt:lpstr>Experiment Design &amp; Results</vt:lpstr>
      <vt:lpstr>Experiment: Pros &amp; Cons</vt:lpstr>
      <vt:lpstr>RQ4: Heuristic Properties Admissibility &amp; Consistency</vt:lpstr>
      <vt:lpstr>RQ4: Approach &amp; Solution</vt:lpstr>
      <vt:lpstr>Why the Heuristic Is Valid</vt:lpstr>
      <vt:lpstr>Verification Experiment</vt:lpstr>
      <vt:lpstr>RQ5: Game GUI &amp; System Design</vt:lpstr>
      <vt:lpstr>RQ5: Approach &amp; Solution</vt:lpstr>
      <vt:lpstr>GUI Architecture (OOP)</vt:lpstr>
      <vt:lpstr>Playback Controls</vt:lpstr>
      <vt:lpstr>RQ6: Competitive Two-Agent Formulation</vt:lpstr>
      <vt:lpstr>RQ6: Approach &amp; Solution</vt:lpstr>
      <vt:lpstr>Competitive State &amp; Scoring</vt:lpstr>
      <vt:lpstr>Simultaneous Turn</vt:lpstr>
      <vt:lpstr>RQ7: Agent Decision-Making Strategy</vt:lpstr>
      <vt:lpstr>RQ7: Approach &amp; Solution</vt:lpstr>
      <vt:lpstr>Two AI Decision Lanes</vt:lpstr>
      <vt:lpstr>Decision Pseudocode</vt:lpstr>
      <vt:lpstr>RQ8: Competitive Game Implementation</vt:lpstr>
      <vt:lpstr>RQ8: Approach &amp; Solution</vt:lpstr>
      <vt:lpstr>Competitive GUI &amp; Flow</vt:lpstr>
      <vt:lpstr>Task Completion Summary</vt:lpstr>
      <vt:lpstr>Requirement Coverage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Wayne</cp:lastModifiedBy>
  <cp:revision>11</cp:revision>
  <dcterms:modified xsi:type="dcterms:W3CDTF">2026-10-06T10:44:45Z</dcterms:modified>
</cp:coreProperties>
</file>